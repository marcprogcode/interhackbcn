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4" roundtripDataSignature="AMtx7mj2bkgv8uatmvl0tp0VSxqEjwua5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4"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 name="Google Shape;2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 name="Google Shape;2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 name="Google Shape;5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 name="Google Shape;6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e07470ca22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 name="Google Shape;76;g3e07470ca22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 name="Google Shape;77;g3e07470ca22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dff27db3ed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g3dff27db3ed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 name="Google Shape;88;g3dff27db3ed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dff27db3ed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g3dff27db3ed_0_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g3dff27db3ed_0_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e07470ca22_4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g3e07470ca22_4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g3e07470ca22_4_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Comm 15 , tecnic 30</a:t>
            </a:r>
            <a:endParaRPr/>
          </a:p>
        </p:txBody>
      </p:sp>
      <p:sp>
        <p:nvSpPr>
          <p:cNvPr id="136" name="Google Shape;13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2.jpg"/><Relationship Id="rId4" Type="http://schemas.openxmlformats.org/officeDocument/2006/relationships/image" Target="../media/image1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jpg"/><Relationship Id="rId4" Type="http://schemas.openxmlformats.org/officeDocument/2006/relationships/image" Target="../media/image8.jpg"/><Relationship Id="rId5"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2D3F"/>
        </a:solidFill>
      </p:bgPr>
    </p:bg>
    <p:spTree>
      <p:nvGrpSpPr>
        <p:cNvPr id="15" name="Shape 15"/>
        <p:cNvGrpSpPr/>
        <p:nvPr/>
      </p:nvGrpSpPr>
      <p:grpSpPr>
        <a:xfrm>
          <a:off x="0" y="0"/>
          <a:ext cx="0" cy="0"/>
          <a:chOff x="0" y="0"/>
          <a:chExt cx="0" cy="0"/>
        </a:xfrm>
      </p:grpSpPr>
      <p:sp>
        <p:nvSpPr>
          <p:cNvPr id="16" name="Google Shape;16;p1"/>
          <p:cNvSpPr/>
          <p:nvPr/>
        </p:nvSpPr>
        <p:spPr>
          <a:xfrm>
            <a:off x="0" y="0"/>
            <a:ext cx="9144000" cy="5143500"/>
          </a:xfrm>
          <a:prstGeom prst="rect">
            <a:avLst/>
          </a:prstGeom>
          <a:solidFill>
            <a:srgbClr val="2D1B69">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502920" y="731520"/>
            <a:ext cx="64008" cy="3474720"/>
          </a:xfrm>
          <a:prstGeom prst="rect">
            <a:avLst/>
          </a:prstGeom>
          <a:solidFill>
            <a:srgbClr val="0F9ED5"/>
          </a:solidFill>
          <a:ln cap="flat" cmpd="sng" w="12700">
            <a:solidFill>
              <a:srgbClr val="0F9ED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685800" y="1325880"/>
            <a:ext cx="731520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5200"/>
              <a:buFont typeface="Calibri"/>
              <a:buNone/>
            </a:pPr>
            <a:r>
              <a:rPr b="1" i="0" lang="en-US" sz="5200" u="none" cap="none" strike="noStrike">
                <a:solidFill>
                  <a:srgbClr val="FFFFFF"/>
                </a:solidFill>
                <a:latin typeface="Calibri"/>
                <a:ea typeface="Calibri"/>
                <a:cs typeface="Calibri"/>
                <a:sym typeface="Calibri"/>
              </a:rPr>
              <a:t>Smart Demand</a:t>
            </a:r>
            <a:endParaRPr b="0" i="0" sz="5200" u="none" cap="none" strike="noStrike">
              <a:solidFill>
                <a:schemeClr val="dk1"/>
              </a:solidFill>
              <a:latin typeface="Calibri"/>
              <a:ea typeface="Calibri"/>
              <a:cs typeface="Calibri"/>
              <a:sym typeface="Calibri"/>
            </a:endParaRPr>
          </a:p>
        </p:txBody>
      </p:sp>
      <p:sp>
        <p:nvSpPr>
          <p:cNvPr id="19" name="Google Shape;19;p1"/>
          <p:cNvSpPr/>
          <p:nvPr/>
        </p:nvSpPr>
        <p:spPr>
          <a:xfrm>
            <a:off x="685800" y="2148840"/>
            <a:ext cx="731520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9ED5"/>
              </a:buClr>
              <a:buSzPts val="5200"/>
              <a:buFont typeface="Calibri"/>
              <a:buNone/>
            </a:pPr>
            <a:r>
              <a:rPr b="1" i="0" lang="en-US" sz="5200" u="none" cap="none" strike="noStrike">
                <a:solidFill>
                  <a:srgbClr val="0F9ED5"/>
                </a:solidFill>
                <a:latin typeface="Calibri"/>
                <a:ea typeface="Calibri"/>
                <a:cs typeface="Calibri"/>
                <a:sym typeface="Calibri"/>
              </a:rPr>
              <a:t>Signals</a:t>
            </a:r>
            <a:endParaRPr b="0" i="0" sz="5200" u="none" cap="none" strike="noStrike">
              <a:solidFill>
                <a:schemeClr val="dk1"/>
              </a:solidFill>
              <a:latin typeface="Calibri"/>
              <a:ea typeface="Calibri"/>
              <a:cs typeface="Calibri"/>
              <a:sym typeface="Calibri"/>
            </a:endParaRPr>
          </a:p>
        </p:txBody>
      </p:sp>
      <p:sp>
        <p:nvSpPr>
          <p:cNvPr id="20" name="Google Shape;20;p1"/>
          <p:cNvSpPr/>
          <p:nvPr/>
        </p:nvSpPr>
        <p:spPr>
          <a:xfrm>
            <a:off x="685800" y="3127248"/>
            <a:ext cx="68580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0CCE0"/>
              </a:buClr>
              <a:buSzPts val="1400"/>
              <a:buFont typeface="Calibri"/>
              <a:buNone/>
            </a:pPr>
            <a:r>
              <a:rPr b="0" i="1" lang="en-US" sz="1400" u="none" cap="none" strike="noStrike">
                <a:solidFill>
                  <a:srgbClr val="B0CCE0"/>
                </a:solidFill>
                <a:latin typeface="Calibri"/>
                <a:ea typeface="Calibri"/>
                <a:cs typeface="Calibri"/>
                <a:sym typeface="Calibri"/>
              </a:rPr>
              <a:t>Predicció de necessitat de compra i detecció primerenca de risc d'abandonament</a:t>
            </a:r>
            <a:endParaRPr b="0" i="0" sz="1400" u="none" cap="none" strike="noStrike">
              <a:solidFill>
                <a:schemeClr val="dk1"/>
              </a:solidFill>
              <a:latin typeface="Calibri"/>
              <a:ea typeface="Calibri"/>
              <a:cs typeface="Calibri"/>
              <a:sym typeface="Calibri"/>
            </a:endParaRPr>
          </a:p>
        </p:txBody>
      </p:sp>
      <p:sp>
        <p:nvSpPr>
          <p:cNvPr id="21" name="Google Shape;21;p1"/>
          <p:cNvSpPr/>
          <p:nvPr/>
        </p:nvSpPr>
        <p:spPr>
          <a:xfrm>
            <a:off x="0" y="4617720"/>
            <a:ext cx="9144000" cy="525780"/>
          </a:xfrm>
          <a:prstGeom prst="rect">
            <a:avLst/>
          </a:prstGeom>
          <a:solidFill>
            <a:srgbClr val="000000">
              <a:alpha val="60000"/>
            </a:srgbClr>
          </a:solidFill>
          <a:ln cap="flat" cmpd="sng" w="12700">
            <a:solidFill>
              <a:srgbClr val="000000">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 name="Google Shape;22;p1" title="logo(1).png"/>
          <p:cNvPicPr preferRelativeResize="0"/>
          <p:nvPr/>
        </p:nvPicPr>
        <p:blipFill>
          <a:blip r:embed="rId3">
            <a:alphaModFix/>
          </a:blip>
          <a:stretch>
            <a:fillRect/>
          </a:stretch>
        </p:blipFill>
        <p:spPr>
          <a:xfrm>
            <a:off x="759898" y="654875"/>
            <a:ext cx="1998675" cy="592200"/>
          </a:xfrm>
          <a:prstGeom prst="rect">
            <a:avLst/>
          </a:prstGeom>
          <a:noFill/>
          <a:ln>
            <a:noFill/>
          </a:ln>
        </p:spPr>
      </p:pic>
      <p:pic>
        <p:nvPicPr>
          <p:cNvPr id="23" name="Google Shape;23;p1" title="logo_center-ubopVpzx-2.png"/>
          <p:cNvPicPr preferRelativeResize="0"/>
          <p:nvPr/>
        </p:nvPicPr>
        <p:blipFill rotWithShape="1">
          <a:blip r:embed="rId4">
            <a:alphaModFix/>
          </a:blip>
          <a:srcRect b="0" l="0" r="0" t="7689"/>
          <a:stretch/>
        </p:blipFill>
        <p:spPr>
          <a:xfrm>
            <a:off x="740100" y="4710950"/>
            <a:ext cx="2092975" cy="3220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8" name="Shape 28"/>
        <p:cNvGrpSpPr/>
        <p:nvPr/>
      </p:nvGrpSpPr>
      <p:grpSpPr>
        <a:xfrm>
          <a:off x="0" y="0"/>
          <a:ext cx="0" cy="0"/>
          <a:chOff x="0" y="0"/>
          <a:chExt cx="0" cy="0"/>
        </a:xfrm>
      </p:grpSpPr>
      <p:sp>
        <p:nvSpPr>
          <p:cNvPr id="29" name="Google Shape;29;p2"/>
          <p:cNvSpPr/>
          <p:nvPr/>
        </p:nvSpPr>
        <p:spPr>
          <a:xfrm>
            <a:off x="0" y="0"/>
            <a:ext cx="9144000" cy="1005840"/>
          </a:xfrm>
          <a:prstGeom prst="rect">
            <a:avLst/>
          </a:prstGeom>
          <a:solidFill>
            <a:srgbClr val="0C2D3F"/>
          </a:solidFill>
          <a:ln cap="flat" cmpd="sng" w="12700">
            <a:solidFill>
              <a:srgbClr val="0C2D3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a:off x="849301" y="1484176"/>
            <a:ext cx="3600300" cy="1456800"/>
          </a:xfrm>
          <a:prstGeom prst="rect">
            <a:avLst/>
          </a:prstGeom>
          <a:solidFill>
            <a:srgbClr val="FFF3E8"/>
          </a:solidFill>
          <a:ln cap="flat" cmpd="sng" w="8325">
            <a:solidFill>
              <a:srgbClr val="E97132"/>
            </a:solidFill>
            <a:prstDash val="solid"/>
            <a:round/>
            <a:headEnd len="sm" w="sm" type="none"/>
            <a:tailEnd len="sm" w="sm" type="none"/>
          </a:ln>
        </p:spPr>
        <p:txBody>
          <a:bodyPr anchorCtr="0" anchor="ctr" bIns="80000" lIns="80000" spcFirstLastPara="1" rIns="80000" wrap="square" tIns="80000">
            <a:noAutofit/>
          </a:bodyPr>
          <a:lstStyle/>
          <a:p>
            <a:pPr indent="0" lvl="0" marL="0" rtl="0" algn="l">
              <a:spcBef>
                <a:spcPts val="0"/>
              </a:spcBef>
              <a:spcAft>
                <a:spcPts val="0"/>
              </a:spcAft>
              <a:buNone/>
            </a:pPr>
            <a:r>
              <a:t/>
            </a:r>
            <a:endParaRPr sz="1225"/>
          </a:p>
        </p:txBody>
      </p:sp>
      <p:sp>
        <p:nvSpPr>
          <p:cNvPr id="31" name="Google Shape;31;p2"/>
          <p:cNvSpPr/>
          <p:nvPr/>
        </p:nvSpPr>
        <p:spPr>
          <a:xfrm>
            <a:off x="849310" y="1484176"/>
            <a:ext cx="3600300" cy="439800"/>
          </a:xfrm>
          <a:prstGeom prst="rect">
            <a:avLst/>
          </a:prstGeom>
          <a:solidFill>
            <a:srgbClr val="E97132"/>
          </a:solidFill>
          <a:ln cap="flat" cmpd="sng" w="11100">
            <a:solidFill>
              <a:srgbClr val="E97132"/>
            </a:solidFill>
            <a:prstDash val="solid"/>
            <a:round/>
            <a:headEnd len="sm" w="sm" type="none"/>
            <a:tailEnd len="sm" w="sm" type="none"/>
          </a:ln>
        </p:spPr>
        <p:txBody>
          <a:bodyPr anchorCtr="0" anchor="ctr" bIns="80000" lIns="80000" spcFirstLastPara="1" rIns="80000" wrap="square" tIns="80000">
            <a:noAutofit/>
          </a:bodyPr>
          <a:lstStyle/>
          <a:p>
            <a:pPr indent="0" lvl="0" marL="0" rtl="0" algn="l">
              <a:spcBef>
                <a:spcPts val="0"/>
              </a:spcBef>
              <a:spcAft>
                <a:spcPts val="0"/>
              </a:spcAft>
              <a:buNone/>
            </a:pPr>
            <a:r>
              <a:t/>
            </a:r>
            <a:endParaRPr/>
          </a:p>
        </p:txBody>
      </p:sp>
      <p:sp>
        <p:nvSpPr>
          <p:cNvPr id="32" name="Google Shape;32;p2"/>
          <p:cNvSpPr/>
          <p:nvPr/>
        </p:nvSpPr>
        <p:spPr>
          <a:xfrm>
            <a:off x="849310" y="1484176"/>
            <a:ext cx="3600300" cy="439800"/>
          </a:xfrm>
          <a:prstGeom prst="rect">
            <a:avLst/>
          </a:prstGeom>
          <a:noFill/>
          <a:ln>
            <a:noFill/>
          </a:ln>
        </p:spPr>
        <p:txBody>
          <a:bodyPr anchorCtr="0" anchor="ctr" bIns="40000" lIns="80000" spcFirstLastPara="1" rIns="80000" wrap="square" tIns="4000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COMMODITY</a:t>
            </a:r>
            <a:endParaRPr b="0" i="0" sz="1050" u="none" cap="none" strike="noStrike">
              <a:solidFill>
                <a:schemeClr val="dk1"/>
              </a:solidFill>
              <a:latin typeface="Calibri"/>
              <a:ea typeface="Calibri"/>
              <a:cs typeface="Calibri"/>
              <a:sym typeface="Calibri"/>
            </a:endParaRPr>
          </a:p>
        </p:txBody>
      </p:sp>
      <p:sp>
        <p:nvSpPr>
          <p:cNvPr id="33" name="Google Shape;33;p2"/>
          <p:cNvSpPr/>
          <p:nvPr/>
        </p:nvSpPr>
        <p:spPr>
          <a:xfrm>
            <a:off x="969320" y="2004222"/>
            <a:ext cx="3360300" cy="360300"/>
          </a:xfrm>
          <a:prstGeom prst="rect">
            <a:avLst/>
          </a:prstGeom>
          <a:noFill/>
          <a:ln>
            <a:noFill/>
          </a:ln>
        </p:spPr>
        <p:txBody>
          <a:bodyPr anchorCtr="0" anchor="ctr" bIns="40000" lIns="80000" spcFirstLastPara="1" rIns="80000" wrap="square" tIns="40000">
            <a:noAutofit/>
          </a:bodyPr>
          <a:lstStyle/>
          <a:p>
            <a:pPr indent="0" lvl="0" marL="0" marR="0" rtl="0" algn="l">
              <a:spcBef>
                <a:spcPts val="0"/>
              </a:spcBef>
              <a:spcAft>
                <a:spcPts val="0"/>
              </a:spcAft>
              <a:buClr>
                <a:srgbClr val="0C2D3F"/>
              </a:buClr>
              <a:buSzPts val="1400"/>
              <a:buFont typeface="Calibri"/>
              <a:buNone/>
            </a:pPr>
            <a:r>
              <a:rPr b="1" i="0" lang="en-US" sz="1400" u="none" cap="none" strike="noStrike">
                <a:solidFill>
                  <a:srgbClr val="0C2D3F"/>
                </a:solidFill>
                <a:latin typeface="Calibri"/>
                <a:ea typeface="Calibri"/>
                <a:cs typeface="Calibri"/>
                <a:sym typeface="Calibri"/>
              </a:rPr>
              <a:t>Compra recurrent</a:t>
            </a:r>
            <a:endParaRPr b="0" i="0" sz="1400" u="none" cap="none" strike="noStrike">
              <a:solidFill>
                <a:schemeClr val="dk1"/>
              </a:solidFill>
              <a:latin typeface="Calibri"/>
              <a:ea typeface="Calibri"/>
              <a:cs typeface="Calibri"/>
              <a:sym typeface="Calibri"/>
            </a:endParaRPr>
          </a:p>
        </p:txBody>
      </p:sp>
      <p:sp>
        <p:nvSpPr>
          <p:cNvPr id="34" name="Google Shape;34;p2"/>
          <p:cNvSpPr/>
          <p:nvPr/>
        </p:nvSpPr>
        <p:spPr>
          <a:xfrm>
            <a:off x="969270" y="2348423"/>
            <a:ext cx="3360300" cy="771300"/>
          </a:xfrm>
          <a:prstGeom prst="rect">
            <a:avLst/>
          </a:prstGeom>
          <a:noFill/>
          <a:ln>
            <a:noFill/>
          </a:ln>
        </p:spPr>
        <p:txBody>
          <a:bodyPr anchorCtr="0" anchor="ctr" bIns="40000" lIns="80000" spcFirstLastPara="1" rIns="80000" wrap="square" tIns="40000">
            <a:noAutofit/>
          </a:bodyPr>
          <a:lstStyle/>
          <a:p>
            <a:pPr indent="0" lvl="0" marL="0" marR="0" rtl="0" algn="l">
              <a:spcBef>
                <a:spcPts val="0"/>
              </a:spcBef>
              <a:spcAft>
                <a:spcPts val="0"/>
              </a:spcAft>
              <a:buClr>
                <a:srgbClr val="E97132"/>
              </a:buClr>
              <a:buSzPts val="1050"/>
              <a:buFont typeface="Calibri"/>
              <a:buNone/>
            </a:pPr>
            <a:r>
              <a:rPr b="1" i="0" lang="en-US" sz="1050" u="none" cap="none" strike="noStrike">
                <a:solidFill>
                  <a:srgbClr val="E97132"/>
                </a:solidFill>
                <a:latin typeface="Calibri"/>
                <a:ea typeface="Calibri"/>
                <a:cs typeface="Calibri"/>
                <a:sym typeface="Calibri"/>
              </a:rPr>
              <a:t>→  </a:t>
            </a:r>
            <a:r>
              <a:rPr b="0" i="0" lang="en-US" sz="1050" u="none" cap="none" strike="noStrike">
                <a:solidFill>
                  <a:srgbClr val="1E293B"/>
                </a:solidFill>
                <a:latin typeface="Calibri"/>
                <a:ea typeface="Calibri"/>
                <a:cs typeface="Calibri"/>
                <a:sym typeface="Calibri"/>
              </a:rPr>
              <a:t>Anestèsia, agulles, desinfecció</a:t>
            </a:r>
            <a:endParaRPr b="0" i="0" sz="1050" u="none" cap="none" strike="noStrike">
              <a:solidFill>
                <a:srgbClr val="1E293B"/>
              </a:solidFill>
              <a:latin typeface="Calibri"/>
              <a:ea typeface="Calibri"/>
              <a:cs typeface="Calibri"/>
              <a:sym typeface="Calibri"/>
            </a:endParaRPr>
          </a:p>
          <a:p>
            <a:pPr indent="0" lvl="0" marL="0" rtl="0" algn="l">
              <a:spcBef>
                <a:spcPts val="0"/>
              </a:spcBef>
              <a:spcAft>
                <a:spcPts val="0"/>
              </a:spcAft>
              <a:buClr>
                <a:srgbClr val="E97132"/>
              </a:buClr>
              <a:buSzPts val="1050"/>
              <a:buFont typeface="Calibri"/>
              <a:buNone/>
            </a:pPr>
            <a:r>
              <a:rPr b="1" lang="en-US" sz="1050">
                <a:solidFill>
                  <a:srgbClr val="E97132"/>
                </a:solidFill>
                <a:latin typeface="Calibri"/>
                <a:ea typeface="Calibri"/>
                <a:cs typeface="Calibri"/>
                <a:sym typeface="Calibri"/>
              </a:rPr>
              <a:t>→  </a:t>
            </a:r>
            <a:r>
              <a:rPr lang="en-US" sz="1050">
                <a:solidFill>
                  <a:srgbClr val="1E293B"/>
                </a:solidFill>
                <a:latin typeface="Calibri"/>
                <a:ea typeface="Calibri"/>
                <a:cs typeface="Calibri"/>
                <a:sym typeface="Calibri"/>
              </a:rPr>
              <a:t>Demanda desviada a competència no visible</a:t>
            </a:r>
            <a:endParaRPr sz="1050">
              <a:solidFill>
                <a:srgbClr val="1E293B"/>
              </a:solidFill>
              <a:latin typeface="Calibri"/>
              <a:ea typeface="Calibri"/>
              <a:cs typeface="Calibri"/>
              <a:sym typeface="Calibri"/>
            </a:endParaRPr>
          </a:p>
          <a:p>
            <a:pPr indent="0" lvl="0" marL="0" rtl="0" algn="l">
              <a:spcBef>
                <a:spcPts val="0"/>
              </a:spcBef>
              <a:spcAft>
                <a:spcPts val="0"/>
              </a:spcAft>
              <a:buClr>
                <a:srgbClr val="E97132"/>
              </a:buClr>
              <a:buSzPts val="1050"/>
              <a:buFont typeface="Calibri"/>
              <a:buNone/>
            </a:pPr>
            <a:r>
              <a:rPr b="1" lang="en-US" sz="1050">
                <a:solidFill>
                  <a:srgbClr val="E97132"/>
                </a:solidFill>
                <a:latin typeface="Calibri"/>
                <a:ea typeface="Calibri"/>
                <a:cs typeface="Calibri"/>
                <a:sym typeface="Calibri"/>
              </a:rPr>
              <a:t>→  </a:t>
            </a:r>
            <a:r>
              <a:rPr lang="en-US" sz="1050">
                <a:solidFill>
                  <a:srgbClr val="1E293B"/>
                </a:solidFill>
                <a:latin typeface="Calibri"/>
                <a:ea typeface="Calibri"/>
                <a:cs typeface="Calibri"/>
                <a:sym typeface="Calibri"/>
              </a:rPr>
              <a:t>Moment òptim de contacte desconegut</a:t>
            </a:r>
            <a:endParaRPr sz="1050">
              <a:solidFill>
                <a:schemeClr val="dk1"/>
              </a:solidFill>
              <a:latin typeface="Calibri"/>
              <a:ea typeface="Calibri"/>
              <a:cs typeface="Calibri"/>
              <a:sym typeface="Calibri"/>
            </a:endParaRPr>
          </a:p>
          <a:p>
            <a:pPr indent="0" lvl="0" marL="0" rtl="0" algn="l">
              <a:spcBef>
                <a:spcPts val="0"/>
              </a:spcBef>
              <a:spcAft>
                <a:spcPts val="0"/>
              </a:spcAft>
              <a:buClr>
                <a:srgbClr val="E97132"/>
              </a:buClr>
              <a:buSzPts val="1050"/>
              <a:buFont typeface="Calibri"/>
              <a:buNone/>
            </a:pPr>
            <a:r>
              <a:t/>
            </a:r>
            <a:endParaRPr sz="1050">
              <a:solidFill>
                <a:srgbClr val="1E293B"/>
              </a:solidFill>
              <a:latin typeface="Calibri"/>
              <a:ea typeface="Calibri"/>
              <a:cs typeface="Calibri"/>
              <a:sym typeface="Calibri"/>
            </a:endParaRPr>
          </a:p>
          <a:p>
            <a:pPr indent="0" lvl="0" marL="0" marR="0" rtl="0" algn="l">
              <a:spcBef>
                <a:spcPts val="0"/>
              </a:spcBef>
              <a:spcAft>
                <a:spcPts val="0"/>
              </a:spcAft>
              <a:buClr>
                <a:srgbClr val="E97132"/>
              </a:buClr>
              <a:buSzPts val="1050"/>
              <a:buFont typeface="Calibri"/>
              <a:buNone/>
            </a:pPr>
            <a:r>
              <a:t/>
            </a:r>
            <a:endParaRPr sz="1050">
              <a:solidFill>
                <a:srgbClr val="1E293B"/>
              </a:solidFill>
              <a:latin typeface="Calibri"/>
              <a:ea typeface="Calibri"/>
              <a:cs typeface="Calibri"/>
              <a:sym typeface="Calibri"/>
            </a:endParaRPr>
          </a:p>
        </p:txBody>
      </p:sp>
      <p:sp>
        <p:nvSpPr>
          <p:cNvPr id="35" name="Google Shape;35;p2"/>
          <p:cNvSpPr/>
          <p:nvPr/>
        </p:nvSpPr>
        <p:spPr>
          <a:xfrm>
            <a:off x="4694412" y="1484176"/>
            <a:ext cx="3600300" cy="1456800"/>
          </a:xfrm>
          <a:prstGeom prst="rect">
            <a:avLst/>
          </a:prstGeom>
          <a:solidFill>
            <a:srgbClr val="E8F4FB"/>
          </a:solidFill>
          <a:ln cap="flat" cmpd="sng" w="8325">
            <a:solidFill>
              <a:srgbClr val="156082"/>
            </a:solidFill>
            <a:prstDash val="solid"/>
            <a:round/>
            <a:headEnd len="sm" w="sm" type="none"/>
            <a:tailEnd len="sm" w="sm" type="none"/>
          </a:ln>
        </p:spPr>
        <p:txBody>
          <a:bodyPr anchorCtr="0" anchor="ctr" bIns="80000" lIns="80000" spcFirstLastPara="1" rIns="80000" wrap="square" tIns="80000">
            <a:noAutofit/>
          </a:bodyPr>
          <a:lstStyle/>
          <a:p>
            <a:pPr indent="0" lvl="0" marL="0" rtl="0" algn="l">
              <a:spcBef>
                <a:spcPts val="0"/>
              </a:spcBef>
              <a:spcAft>
                <a:spcPts val="0"/>
              </a:spcAft>
              <a:buNone/>
            </a:pPr>
            <a:r>
              <a:t/>
            </a:r>
            <a:endParaRPr sz="1225"/>
          </a:p>
        </p:txBody>
      </p:sp>
      <p:sp>
        <p:nvSpPr>
          <p:cNvPr id="36" name="Google Shape;36;p2"/>
          <p:cNvSpPr/>
          <p:nvPr/>
        </p:nvSpPr>
        <p:spPr>
          <a:xfrm>
            <a:off x="4689648" y="1484176"/>
            <a:ext cx="3600300" cy="439800"/>
          </a:xfrm>
          <a:prstGeom prst="rect">
            <a:avLst/>
          </a:prstGeom>
          <a:solidFill>
            <a:srgbClr val="156082"/>
          </a:solidFill>
          <a:ln cap="flat" cmpd="sng" w="11100">
            <a:solidFill>
              <a:srgbClr val="156082"/>
            </a:solidFill>
            <a:prstDash val="solid"/>
            <a:round/>
            <a:headEnd len="sm" w="sm" type="none"/>
            <a:tailEnd len="sm" w="sm" type="none"/>
          </a:ln>
        </p:spPr>
        <p:txBody>
          <a:bodyPr anchorCtr="0" anchor="ctr" bIns="80000" lIns="80000" spcFirstLastPara="1" rIns="80000" wrap="square" tIns="80000">
            <a:noAutofit/>
          </a:bodyPr>
          <a:lstStyle/>
          <a:p>
            <a:pPr indent="0" lvl="0" marL="0" rtl="0" algn="l">
              <a:spcBef>
                <a:spcPts val="0"/>
              </a:spcBef>
              <a:spcAft>
                <a:spcPts val="0"/>
              </a:spcAft>
              <a:buNone/>
            </a:pPr>
            <a:r>
              <a:t/>
            </a:r>
            <a:endParaRPr/>
          </a:p>
        </p:txBody>
      </p:sp>
      <p:sp>
        <p:nvSpPr>
          <p:cNvPr id="37" name="Google Shape;37;p2"/>
          <p:cNvSpPr/>
          <p:nvPr/>
        </p:nvSpPr>
        <p:spPr>
          <a:xfrm>
            <a:off x="4689648" y="1484176"/>
            <a:ext cx="3600300" cy="439800"/>
          </a:xfrm>
          <a:prstGeom prst="rect">
            <a:avLst/>
          </a:prstGeom>
          <a:noFill/>
          <a:ln>
            <a:noFill/>
          </a:ln>
        </p:spPr>
        <p:txBody>
          <a:bodyPr anchorCtr="0" anchor="ctr" bIns="40000" lIns="80000" spcFirstLastPara="1" rIns="80000" wrap="square" tIns="4000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TÈCNIC</a:t>
            </a:r>
            <a:endParaRPr b="0" i="0" sz="1050" u="none" cap="none" strike="noStrike">
              <a:solidFill>
                <a:schemeClr val="dk1"/>
              </a:solidFill>
              <a:latin typeface="Calibri"/>
              <a:ea typeface="Calibri"/>
              <a:cs typeface="Calibri"/>
              <a:sym typeface="Calibri"/>
            </a:endParaRPr>
          </a:p>
        </p:txBody>
      </p:sp>
      <p:sp>
        <p:nvSpPr>
          <p:cNvPr id="38" name="Google Shape;38;p2"/>
          <p:cNvSpPr/>
          <p:nvPr/>
        </p:nvSpPr>
        <p:spPr>
          <a:xfrm>
            <a:off x="4809659" y="2004222"/>
            <a:ext cx="3360300" cy="360300"/>
          </a:xfrm>
          <a:prstGeom prst="rect">
            <a:avLst/>
          </a:prstGeom>
          <a:noFill/>
          <a:ln>
            <a:noFill/>
          </a:ln>
        </p:spPr>
        <p:txBody>
          <a:bodyPr anchorCtr="0" anchor="ctr" bIns="40000" lIns="80000" spcFirstLastPara="1" rIns="80000" wrap="square" tIns="40000">
            <a:noAutofit/>
          </a:bodyPr>
          <a:lstStyle/>
          <a:p>
            <a:pPr indent="0" lvl="0" marL="0" marR="0" rtl="0" algn="l">
              <a:spcBef>
                <a:spcPts val="0"/>
              </a:spcBef>
              <a:spcAft>
                <a:spcPts val="0"/>
              </a:spcAft>
              <a:buClr>
                <a:srgbClr val="0C2D3F"/>
              </a:buClr>
              <a:buSzPts val="1400"/>
              <a:buFont typeface="Calibri"/>
              <a:buNone/>
            </a:pPr>
            <a:r>
              <a:rPr b="1" i="0" lang="en-US" sz="1400" u="none" cap="none" strike="noStrike">
                <a:solidFill>
                  <a:srgbClr val="0C2D3F"/>
                </a:solidFill>
                <a:latin typeface="Calibri"/>
                <a:ea typeface="Calibri"/>
                <a:cs typeface="Calibri"/>
                <a:sym typeface="Calibri"/>
              </a:rPr>
              <a:t>Patró variable</a:t>
            </a:r>
            <a:endParaRPr b="0" i="0" sz="1400" u="none" cap="none" strike="noStrike">
              <a:solidFill>
                <a:schemeClr val="dk1"/>
              </a:solidFill>
              <a:latin typeface="Calibri"/>
              <a:ea typeface="Calibri"/>
              <a:cs typeface="Calibri"/>
              <a:sym typeface="Calibri"/>
            </a:endParaRPr>
          </a:p>
        </p:txBody>
      </p:sp>
      <p:sp>
        <p:nvSpPr>
          <p:cNvPr id="39" name="Google Shape;39;p2"/>
          <p:cNvSpPr/>
          <p:nvPr/>
        </p:nvSpPr>
        <p:spPr>
          <a:xfrm>
            <a:off x="4809604" y="2364259"/>
            <a:ext cx="3360300" cy="439800"/>
          </a:xfrm>
          <a:prstGeom prst="rect">
            <a:avLst/>
          </a:prstGeom>
          <a:noFill/>
          <a:ln>
            <a:noFill/>
          </a:ln>
        </p:spPr>
        <p:txBody>
          <a:bodyPr anchorCtr="0" anchor="ctr" bIns="40000" lIns="80000" spcFirstLastPara="1" rIns="80000" wrap="square" tIns="40000">
            <a:noAutofit/>
          </a:bodyPr>
          <a:lstStyle/>
          <a:p>
            <a:pPr indent="0" lvl="0" marL="0" marR="0" rtl="0" algn="l">
              <a:spcBef>
                <a:spcPts val="0"/>
              </a:spcBef>
              <a:spcAft>
                <a:spcPts val="0"/>
              </a:spcAft>
              <a:buClr>
                <a:srgbClr val="156082"/>
              </a:buClr>
              <a:buSzPts val="1050"/>
              <a:buFont typeface="Calibri"/>
              <a:buNone/>
            </a:pPr>
            <a:r>
              <a:rPr b="1" i="0" lang="en-US" sz="1050" u="none" cap="none" strike="noStrike">
                <a:solidFill>
                  <a:srgbClr val="156082"/>
                </a:solidFill>
                <a:latin typeface="Calibri"/>
                <a:ea typeface="Calibri"/>
                <a:cs typeface="Calibri"/>
                <a:sym typeface="Calibri"/>
              </a:rPr>
              <a:t>→  </a:t>
            </a:r>
            <a:r>
              <a:rPr b="0" i="0" lang="en-US" sz="1050" u="none" cap="none" strike="noStrike">
                <a:solidFill>
                  <a:srgbClr val="1E293B"/>
                </a:solidFill>
                <a:latin typeface="Calibri"/>
                <a:ea typeface="Calibri"/>
                <a:cs typeface="Calibri"/>
                <a:sym typeface="Calibri"/>
              </a:rPr>
              <a:t>Compra lligada al cas clínic</a:t>
            </a:r>
            <a:endParaRPr b="0" i="0" sz="1050" u="none" cap="none" strike="noStrike">
              <a:solidFill>
                <a:srgbClr val="1E293B"/>
              </a:solidFill>
              <a:latin typeface="Calibri"/>
              <a:ea typeface="Calibri"/>
              <a:cs typeface="Calibri"/>
              <a:sym typeface="Calibri"/>
            </a:endParaRPr>
          </a:p>
          <a:p>
            <a:pPr indent="0" lvl="0" marL="0" rtl="0" algn="l">
              <a:spcBef>
                <a:spcPts val="0"/>
              </a:spcBef>
              <a:spcAft>
                <a:spcPts val="0"/>
              </a:spcAft>
              <a:buClr>
                <a:srgbClr val="156082"/>
              </a:buClr>
              <a:buSzPts val="1050"/>
              <a:buFont typeface="Calibri"/>
              <a:buNone/>
            </a:pPr>
            <a:r>
              <a:rPr b="1" lang="en-US" sz="1050">
                <a:solidFill>
                  <a:srgbClr val="156082"/>
                </a:solidFill>
                <a:latin typeface="Calibri"/>
                <a:ea typeface="Calibri"/>
                <a:cs typeface="Calibri"/>
                <a:sym typeface="Calibri"/>
              </a:rPr>
              <a:t>→  </a:t>
            </a:r>
            <a:r>
              <a:rPr lang="en-US" sz="1050">
                <a:solidFill>
                  <a:srgbClr val="1E293B"/>
                </a:solidFill>
                <a:latin typeface="Calibri"/>
                <a:ea typeface="Calibri"/>
                <a:cs typeface="Calibri"/>
                <a:sym typeface="Calibri"/>
              </a:rPr>
              <a:t>Abandonament silenciós difícil de detectar</a:t>
            </a:r>
            <a:endParaRPr sz="1050">
              <a:solidFill>
                <a:schemeClr val="dk1"/>
              </a:solidFill>
              <a:latin typeface="Calibri"/>
              <a:ea typeface="Calibri"/>
              <a:cs typeface="Calibri"/>
              <a:sym typeface="Calibri"/>
            </a:endParaRPr>
          </a:p>
          <a:p>
            <a:pPr indent="0" lvl="0" marL="0" marR="0" rtl="0" algn="l">
              <a:spcBef>
                <a:spcPts val="0"/>
              </a:spcBef>
              <a:spcAft>
                <a:spcPts val="0"/>
              </a:spcAft>
              <a:buClr>
                <a:srgbClr val="156082"/>
              </a:buClr>
              <a:buSzPts val="1050"/>
              <a:buFont typeface="Calibri"/>
              <a:buNone/>
            </a:pPr>
            <a:r>
              <a:t/>
            </a:r>
            <a:endParaRPr sz="1050">
              <a:solidFill>
                <a:srgbClr val="1E293B"/>
              </a:solidFill>
              <a:latin typeface="Calibri"/>
              <a:ea typeface="Calibri"/>
              <a:cs typeface="Calibri"/>
              <a:sym typeface="Calibri"/>
            </a:endParaRPr>
          </a:p>
        </p:txBody>
      </p:sp>
      <p:sp>
        <p:nvSpPr>
          <p:cNvPr id="40" name="Google Shape;40;p2"/>
          <p:cNvSpPr/>
          <p:nvPr/>
        </p:nvSpPr>
        <p:spPr>
          <a:xfrm>
            <a:off x="-175" y="0"/>
            <a:ext cx="9144000" cy="986700"/>
          </a:xfrm>
          <a:prstGeom prst="rect">
            <a:avLst/>
          </a:prstGeom>
          <a:solidFill>
            <a:srgbClr val="2D1B69">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418550" y="81890"/>
            <a:ext cx="5486400" cy="822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El problema</a:t>
            </a:r>
            <a:endParaRPr b="0" i="0" sz="2800" u="none" cap="none" strike="noStrike">
              <a:solidFill>
                <a:schemeClr val="dk1"/>
              </a:solidFill>
              <a:latin typeface="Calibri"/>
              <a:ea typeface="Calibri"/>
              <a:cs typeface="Calibri"/>
              <a:sym typeface="Calibri"/>
            </a:endParaRPr>
          </a:p>
        </p:txBody>
      </p:sp>
      <p:sp>
        <p:nvSpPr>
          <p:cNvPr id="42" name="Google Shape;42;p2"/>
          <p:cNvSpPr/>
          <p:nvPr/>
        </p:nvSpPr>
        <p:spPr>
          <a:xfrm>
            <a:off x="418550" y="602051"/>
            <a:ext cx="8229600" cy="34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3C5D8"/>
              </a:buClr>
              <a:buSzPts val="1100"/>
              <a:buFont typeface="Calibri"/>
              <a:buNone/>
            </a:pPr>
            <a:r>
              <a:rPr lang="en-US" sz="1100">
                <a:solidFill>
                  <a:srgbClr val="FFFFFF"/>
                </a:solidFill>
                <a:latin typeface="Calibri"/>
                <a:ea typeface="Calibri"/>
                <a:cs typeface="Calibri"/>
                <a:sym typeface="Calibri"/>
              </a:rPr>
              <a:t>Es perden clients i vendes per falta de contacte al moment adeqüat. </a:t>
            </a:r>
            <a:endParaRPr b="0" i="0" sz="1100" u="none" cap="none" strike="noStrike">
              <a:solidFill>
                <a:srgbClr val="FFFFFF"/>
              </a:solidFill>
              <a:latin typeface="Calibri"/>
              <a:ea typeface="Calibri"/>
              <a:cs typeface="Calibri"/>
              <a:sym typeface="Calibri"/>
            </a:endParaRPr>
          </a:p>
        </p:txBody>
      </p:sp>
      <p:sp>
        <p:nvSpPr>
          <p:cNvPr id="43" name="Google Shape;43;p2"/>
          <p:cNvSpPr/>
          <p:nvPr/>
        </p:nvSpPr>
        <p:spPr>
          <a:xfrm>
            <a:off x="309800" y="3438350"/>
            <a:ext cx="2657100" cy="1456800"/>
          </a:xfrm>
          <a:prstGeom prst="rect">
            <a:avLst/>
          </a:prstGeom>
          <a:solidFill>
            <a:srgbClr val="FFF3E8"/>
          </a:solidFill>
          <a:ln cap="flat" cmpd="sng" w="8325">
            <a:solidFill>
              <a:srgbClr val="E97132"/>
            </a:solidFill>
            <a:prstDash val="solid"/>
            <a:round/>
            <a:headEnd len="sm" w="sm" type="none"/>
            <a:tailEnd len="sm" w="sm" type="none"/>
          </a:ln>
        </p:spPr>
        <p:txBody>
          <a:bodyPr anchorCtr="0" anchor="ctr" bIns="80000" lIns="80000" spcFirstLastPara="1" rIns="80000" wrap="square" tIns="80000">
            <a:noAutofit/>
          </a:bodyPr>
          <a:lstStyle/>
          <a:p>
            <a:pPr indent="0" lvl="0" marL="0" rtl="0" algn="l">
              <a:spcBef>
                <a:spcPts val="0"/>
              </a:spcBef>
              <a:spcAft>
                <a:spcPts val="0"/>
              </a:spcAft>
              <a:buNone/>
            </a:pPr>
            <a:r>
              <a:t/>
            </a:r>
            <a:endParaRPr sz="1225"/>
          </a:p>
        </p:txBody>
      </p:sp>
      <p:sp>
        <p:nvSpPr>
          <p:cNvPr id="44" name="Google Shape;44;p2"/>
          <p:cNvSpPr/>
          <p:nvPr/>
        </p:nvSpPr>
        <p:spPr>
          <a:xfrm>
            <a:off x="309806" y="3438350"/>
            <a:ext cx="2657100" cy="439800"/>
          </a:xfrm>
          <a:prstGeom prst="rect">
            <a:avLst/>
          </a:prstGeom>
          <a:solidFill>
            <a:srgbClr val="E97132"/>
          </a:solidFill>
          <a:ln cap="flat" cmpd="sng" w="11100">
            <a:solidFill>
              <a:srgbClr val="E97132"/>
            </a:solidFill>
            <a:prstDash val="solid"/>
            <a:round/>
            <a:headEnd len="sm" w="sm" type="none"/>
            <a:tailEnd len="sm" w="sm" type="none"/>
          </a:ln>
        </p:spPr>
        <p:txBody>
          <a:bodyPr anchorCtr="0" anchor="ctr" bIns="80000" lIns="80000" spcFirstLastPara="1" rIns="80000" wrap="square" tIns="80000">
            <a:noAutofit/>
          </a:bodyPr>
          <a:lstStyle/>
          <a:p>
            <a:pPr indent="0" lvl="0" marL="0" rtl="0" algn="l">
              <a:spcBef>
                <a:spcPts val="0"/>
              </a:spcBef>
              <a:spcAft>
                <a:spcPts val="0"/>
              </a:spcAft>
              <a:buNone/>
            </a:pPr>
            <a:r>
              <a:t/>
            </a:r>
            <a:endParaRPr/>
          </a:p>
        </p:txBody>
      </p:sp>
      <p:sp>
        <p:nvSpPr>
          <p:cNvPr id="45" name="Google Shape;45;p2"/>
          <p:cNvSpPr/>
          <p:nvPr/>
        </p:nvSpPr>
        <p:spPr>
          <a:xfrm>
            <a:off x="309806" y="3438350"/>
            <a:ext cx="2657100" cy="439800"/>
          </a:xfrm>
          <a:prstGeom prst="rect">
            <a:avLst/>
          </a:prstGeom>
          <a:noFill/>
          <a:ln>
            <a:noFill/>
          </a:ln>
        </p:spPr>
        <p:txBody>
          <a:bodyPr anchorCtr="0" anchor="ctr" bIns="40000" lIns="80000" spcFirstLastPara="1" rIns="80000" wrap="square" tIns="40000">
            <a:noAutofit/>
          </a:bodyPr>
          <a:lstStyle/>
          <a:p>
            <a:pPr indent="0" lvl="0" marL="0" marR="0" rtl="0" algn="ctr">
              <a:spcBef>
                <a:spcPts val="0"/>
              </a:spcBef>
              <a:spcAft>
                <a:spcPts val="0"/>
              </a:spcAft>
              <a:buClr>
                <a:srgbClr val="FFFFFF"/>
              </a:buClr>
              <a:buSzPts val="1050"/>
              <a:buFont typeface="Calibri"/>
              <a:buNone/>
            </a:pPr>
            <a:r>
              <a:rPr b="1" lang="en-US" sz="1050">
                <a:solidFill>
                  <a:srgbClr val="FFFFFF"/>
                </a:solidFill>
                <a:latin typeface="Calibri"/>
                <a:ea typeface="Calibri"/>
                <a:cs typeface="Calibri"/>
                <a:sym typeface="Calibri"/>
              </a:rPr>
              <a:t>LLEIAL</a:t>
            </a:r>
            <a:endParaRPr b="0" i="0" sz="1050" u="none" cap="none" strike="noStrike">
              <a:solidFill>
                <a:schemeClr val="dk1"/>
              </a:solidFill>
              <a:latin typeface="Calibri"/>
              <a:ea typeface="Calibri"/>
              <a:cs typeface="Calibri"/>
              <a:sym typeface="Calibri"/>
            </a:endParaRPr>
          </a:p>
        </p:txBody>
      </p:sp>
      <p:sp>
        <p:nvSpPr>
          <p:cNvPr id="46" name="Google Shape;46;p2"/>
          <p:cNvSpPr/>
          <p:nvPr/>
        </p:nvSpPr>
        <p:spPr>
          <a:xfrm>
            <a:off x="418549" y="3911650"/>
            <a:ext cx="2439600" cy="771300"/>
          </a:xfrm>
          <a:prstGeom prst="rect">
            <a:avLst/>
          </a:prstGeom>
          <a:noFill/>
          <a:ln>
            <a:noFill/>
          </a:ln>
        </p:spPr>
        <p:txBody>
          <a:bodyPr anchorCtr="0" anchor="ctr" bIns="40000" lIns="80000" spcFirstLastPara="1" rIns="80000" wrap="square" tIns="40000">
            <a:noAutofit/>
          </a:bodyPr>
          <a:lstStyle/>
          <a:p>
            <a:pPr indent="0" lvl="0" marL="0" marR="0" rtl="0" algn="l">
              <a:spcBef>
                <a:spcPts val="0"/>
              </a:spcBef>
              <a:spcAft>
                <a:spcPts val="0"/>
              </a:spcAft>
              <a:buClr>
                <a:srgbClr val="E97132"/>
              </a:buClr>
              <a:buSzPts val="1050"/>
              <a:buFont typeface="Calibri"/>
              <a:buNone/>
            </a:pPr>
            <a:r>
              <a:rPr lang="en-US" sz="1050">
                <a:solidFill>
                  <a:schemeClr val="dk1"/>
                </a:solidFill>
                <a:latin typeface="Calibri"/>
                <a:ea typeface="Calibri"/>
                <a:cs typeface="Calibri"/>
                <a:sym typeface="Calibri"/>
              </a:rPr>
              <a:t>Compres constants i sostingudes. Contactar quan es preveu que està a prop de quedar-se sense stock</a:t>
            </a:r>
            <a:endParaRPr sz="1050">
              <a:solidFill>
                <a:schemeClr val="dk1"/>
              </a:solidFill>
              <a:latin typeface="Calibri"/>
              <a:ea typeface="Calibri"/>
              <a:cs typeface="Calibri"/>
              <a:sym typeface="Calibri"/>
            </a:endParaRPr>
          </a:p>
          <a:p>
            <a:pPr indent="0" lvl="0" marL="0" marR="0" rtl="0" algn="l">
              <a:spcBef>
                <a:spcPts val="0"/>
              </a:spcBef>
              <a:spcAft>
                <a:spcPts val="0"/>
              </a:spcAft>
              <a:buClr>
                <a:srgbClr val="E97132"/>
              </a:buClr>
              <a:buSzPts val="1050"/>
              <a:buFont typeface="Calibri"/>
              <a:buNone/>
            </a:pPr>
            <a:r>
              <a:t/>
            </a:r>
            <a:endParaRPr sz="1050">
              <a:solidFill>
                <a:srgbClr val="1E293B"/>
              </a:solidFill>
              <a:latin typeface="Calibri"/>
              <a:ea typeface="Calibri"/>
              <a:cs typeface="Calibri"/>
              <a:sym typeface="Calibri"/>
            </a:endParaRPr>
          </a:p>
        </p:txBody>
      </p:sp>
      <p:sp>
        <p:nvSpPr>
          <p:cNvPr id="47" name="Google Shape;47;p2"/>
          <p:cNvSpPr/>
          <p:nvPr/>
        </p:nvSpPr>
        <p:spPr>
          <a:xfrm>
            <a:off x="3243275" y="3419300"/>
            <a:ext cx="2657100" cy="1456800"/>
          </a:xfrm>
          <a:prstGeom prst="rect">
            <a:avLst/>
          </a:prstGeom>
          <a:solidFill>
            <a:srgbClr val="FFF3E8"/>
          </a:solidFill>
          <a:ln cap="flat" cmpd="sng" w="8325">
            <a:solidFill>
              <a:srgbClr val="E97132"/>
            </a:solidFill>
            <a:prstDash val="solid"/>
            <a:round/>
            <a:headEnd len="sm" w="sm" type="none"/>
            <a:tailEnd len="sm" w="sm" type="none"/>
          </a:ln>
        </p:spPr>
        <p:txBody>
          <a:bodyPr anchorCtr="0" anchor="ctr" bIns="80000" lIns="80000" spcFirstLastPara="1" rIns="80000" wrap="square" tIns="80000">
            <a:noAutofit/>
          </a:bodyPr>
          <a:lstStyle/>
          <a:p>
            <a:pPr indent="0" lvl="0" marL="0" rtl="0" algn="l">
              <a:spcBef>
                <a:spcPts val="0"/>
              </a:spcBef>
              <a:spcAft>
                <a:spcPts val="0"/>
              </a:spcAft>
              <a:buNone/>
            </a:pPr>
            <a:r>
              <a:t/>
            </a:r>
            <a:endParaRPr sz="1225"/>
          </a:p>
        </p:txBody>
      </p:sp>
      <p:sp>
        <p:nvSpPr>
          <p:cNvPr id="48" name="Google Shape;48;p2"/>
          <p:cNvSpPr/>
          <p:nvPr/>
        </p:nvSpPr>
        <p:spPr>
          <a:xfrm>
            <a:off x="3243281" y="3419300"/>
            <a:ext cx="2657100" cy="439800"/>
          </a:xfrm>
          <a:prstGeom prst="rect">
            <a:avLst/>
          </a:prstGeom>
          <a:solidFill>
            <a:srgbClr val="E97132"/>
          </a:solidFill>
          <a:ln cap="flat" cmpd="sng" w="11100">
            <a:solidFill>
              <a:srgbClr val="E97132"/>
            </a:solidFill>
            <a:prstDash val="solid"/>
            <a:round/>
            <a:headEnd len="sm" w="sm" type="none"/>
            <a:tailEnd len="sm" w="sm" type="none"/>
          </a:ln>
        </p:spPr>
        <p:txBody>
          <a:bodyPr anchorCtr="0" anchor="ctr" bIns="80000" lIns="80000" spcFirstLastPara="1" rIns="80000" wrap="square" tIns="80000">
            <a:noAutofit/>
          </a:bodyPr>
          <a:lstStyle/>
          <a:p>
            <a:pPr indent="0" lvl="0" marL="0" rtl="0" algn="l">
              <a:spcBef>
                <a:spcPts val="0"/>
              </a:spcBef>
              <a:spcAft>
                <a:spcPts val="0"/>
              </a:spcAft>
              <a:buNone/>
            </a:pPr>
            <a:r>
              <a:t/>
            </a:r>
            <a:endParaRPr/>
          </a:p>
        </p:txBody>
      </p:sp>
      <p:sp>
        <p:nvSpPr>
          <p:cNvPr id="49" name="Google Shape;49;p2"/>
          <p:cNvSpPr/>
          <p:nvPr/>
        </p:nvSpPr>
        <p:spPr>
          <a:xfrm>
            <a:off x="3243281" y="3419300"/>
            <a:ext cx="2657100" cy="439800"/>
          </a:xfrm>
          <a:prstGeom prst="rect">
            <a:avLst/>
          </a:prstGeom>
          <a:noFill/>
          <a:ln>
            <a:noFill/>
          </a:ln>
        </p:spPr>
        <p:txBody>
          <a:bodyPr anchorCtr="0" anchor="ctr" bIns="40000" lIns="80000" spcFirstLastPara="1" rIns="80000" wrap="square" tIns="40000">
            <a:noAutofit/>
          </a:bodyPr>
          <a:lstStyle/>
          <a:p>
            <a:pPr indent="0" lvl="0" marL="0" marR="0" rtl="0" algn="ctr">
              <a:spcBef>
                <a:spcPts val="0"/>
              </a:spcBef>
              <a:spcAft>
                <a:spcPts val="0"/>
              </a:spcAft>
              <a:buClr>
                <a:srgbClr val="FFFFFF"/>
              </a:buClr>
              <a:buSzPts val="1050"/>
              <a:buFont typeface="Calibri"/>
              <a:buNone/>
            </a:pPr>
            <a:r>
              <a:rPr b="1" lang="en-US" sz="1050">
                <a:solidFill>
                  <a:srgbClr val="FFFFFF"/>
                </a:solidFill>
                <a:latin typeface="Calibri"/>
                <a:ea typeface="Calibri"/>
                <a:cs typeface="Calibri"/>
                <a:sym typeface="Calibri"/>
              </a:rPr>
              <a:t>PROMISCU</a:t>
            </a:r>
            <a:endParaRPr b="0" i="0" sz="1050" u="none" cap="none" strike="noStrike">
              <a:solidFill>
                <a:schemeClr val="dk1"/>
              </a:solidFill>
              <a:latin typeface="Calibri"/>
              <a:ea typeface="Calibri"/>
              <a:cs typeface="Calibri"/>
              <a:sym typeface="Calibri"/>
            </a:endParaRPr>
          </a:p>
        </p:txBody>
      </p:sp>
      <p:sp>
        <p:nvSpPr>
          <p:cNvPr id="50" name="Google Shape;50;p2"/>
          <p:cNvSpPr/>
          <p:nvPr/>
        </p:nvSpPr>
        <p:spPr>
          <a:xfrm>
            <a:off x="3352024" y="3892600"/>
            <a:ext cx="2439600" cy="771300"/>
          </a:xfrm>
          <a:prstGeom prst="rect">
            <a:avLst/>
          </a:prstGeom>
          <a:noFill/>
          <a:ln>
            <a:noFill/>
          </a:ln>
        </p:spPr>
        <p:txBody>
          <a:bodyPr anchorCtr="0" anchor="ctr" bIns="40000" lIns="80000" spcFirstLastPara="1" rIns="80000" wrap="square" tIns="40000">
            <a:noAutofit/>
          </a:bodyPr>
          <a:lstStyle/>
          <a:p>
            <a:pPr indent="0" lvl="0" marL="0" marR="0" rtl="0" algn="l">
              <a:spcBef>
                <a:spcPts val="0"/>
              </a:spcBef>
              <a:spcAft>
                <a:spcPts val="0"/>
              </a:spcAft>
              <a:buClr>
                <a:srgbClr val="E97132"/>
              </a:buClr>
              <a:buSzPts val="1050"/>
              <a:buFont typeface="Calibri"/>
              <a:buNone/>
            </a:pPr>
            <a:r>
              <a:rPr lang="en-US" sz="1050">
                <a:solidFill>
                  <a:schemeClr val="dk1"/>
                </a:solidFill>
                <a:latin typeface="Calibri"/>
                <a:ea typeface="Calibri"/>
                <a:cs typeface="Calibri"/>
                <a:sym typeface="Calibri"/>
              </a:rPr>
              <a:t>Compres esporàdiques i irregulars. Compra de la competència. </a:t>
            </a:r>
            <a:endParaRPr sz="1050">
              <a:solidFill>
                <a:schemeClr val="dk1"/>
              </a:solidFill>
              <a:latin typeface="Calibri"/>
              <a:ea typeface="Calibri"/>
              <a:cs typeface="Calibri"/>
              <a:sym typeface="Calibri"/>
            </a:endParaRPr>
          </a:p>
          <a:p>
            <a:pPr indent="0" lvl="0" marL="0" marR="0" rtl="0" algn="l">
              <a:spcBef>
                <a:spcPts val="0"/>
              </a:spcBef>
              <a:spcAft>
                <a:spcPts val="0"/>
              </a:spcAft>
              <a:buClr>
                <a:srgbClr val="E97132"/>
              </a:buClr>
              <a:buSzPts val="1050"/>
              <a:buFont typeface="Calibri"/>
              <a:buNone/>
            </a:pPr>
            <a:r>
              <a:t/>
            </a:r>
            <a:endParaRPr sz="1050">
              <a:solidFill>
                <a:schemeClr val="dk1"/>
              </a:solidFill>
              <a:latin typeface="Calibri"/>
              <a:ea typeface="Calibri"/>
              <a:cs typeface="Calibri"/>
              <a:sym typeface="Calibri"/>
            </a:endParaRPr>
          </a:p>
          <a:p>
            <a:pPr indent="0" lvl="0" marL="0" marR="0" rtl="0" algn="l">
              <a:spcBef>
                <a:spcPts val="0"/>
              </a:spcBef>
              <a:spcAft>
                <a:spcPts val="0"/>
              </a:spcAft>
              <a:buClr>
                <a:srgbClr val="E97132"/>
              </a:buClr>
              <a:buSzPts val="1050"/>
              <a:buFont typeface="Calibri"/>
              <a:buNone/>
            </a:pPr>
            <a:r>
              <a:t/>
            </a:r>
            <a:endParaRPr sz="1050">
              <a:solidFill>
                <a:srgbClr val="1E293B"/>
              </a:solidFill>
              <a:latin typeface="Calibri"/>
              <a:ea typeface="Calibri"/>
              <a:cs typeface="Calibri"/>
              <a:sym typeface="Calibri"/>
            </a:endParaRPr>
          </a:p>
        </p:txBody>
      </p:sp>
      <p:sp>
        <p:nvSpPr>
          <p:cNvPr id="51" name="Google Shape;51;p2"/>
          <p:cNvSpPr/>
          <p:nvPr/>
        </p:nvSpPr>
        <p:spPr>
          <a:xfrm>
            <a:off x="6176750" y="3419300"/>
            <a:ext cx="2657100" cy="1456800"/>
          </a:xfrm>
          <a:prstGeom prst="rect">
            <a:avLst/>
          </a:prstGeom>
          <a:solidFill>
            <a:srgbClr val="FFF3E8"/>
          </a:solidFill>
          <a:ln cap="flat" cmpd="sng" w="8325">
            <a:solidFill>
              <a:srgbClr val="E97132"/>
            </a:solidFill>
            <a:prstDash val="solid"/>
            <a:round/>
            <a:headEnd len="sm" w="sm" type="none"/>
            <a:tailEnd len="sm" w="sm" type="none"/>
          </a:ln>
        </p:spPr>
        <p:txBody>
          <a:bodyPr anchorCtr="0" anchor="ctr" bIns="80000" lIns="80000" spcFirstLastPara="1" rIns="80000" wrap="square" tIns="80000">
            <a:noAutofit/>
          </a:bodyPr>
          <a:lstStyle/>
          <a:p>
            <a:pPr indent="0" lvl="0" marL="0" rtl="0" algn="l">
              <a:spcBef>
                <a:spcPts val="0"/>
              </a:spcBef>
              <a:spcAft>
                <a:spcPts val="0"/>
              </a:spcAft>
              <a:buNone/>
            </a:pPr>
            <a:r>
              <a:t/>
            </a:r>
            <a:endParaRPr sz="1225"/>
          </a:p>
        </p:txBody>
      </p:sp>
      <p:sp>
        <p:nvSpPr>
          <p:cNvPr id="52" name="Google Shape;52;p2"/>
          <p:cNvSpPr/>
          <p:nvPr/>
        </p:nvSpPr>
        <p:spPr>
          <a:xfrm>
            <a:off x="6176756" y="3419300"/>
            <a:ext cx="2657100" cy="439800"/>
          </a:xfrm>
          <a:prstGeom prst="rect">
            <a:avLst/>
          </a:prstGeom>
          <a:solidFill>
            <a:srgbClr val="E97132"/>
          </a:solidFill>
          <a:ln cap="flat" cmpd="sng" w="11100">
            <a:solidFill>
              <a:srgbClr val="E97132"/>
            </a:solidFill>
            <a:prstDash val="solid"/>
            <a:round/>
            <a:headEnd len="sm" w="sm" type="none"/>
            <a:tailEnd len="sm" w="sm" type="none"/>
          </a:ln>
        </p:spPr>
        <p:txBody>
          <a:bodyPr anchorCtr="0" anchor="ctr" bIns="80000" lIns="80000" spcFirstLastPara="1" rIns="80000" wrap="square" tIns="80000">
            <a:noAutofit/>
          </a:bodyPr>
          <a:lstStyle/>
          <a:p>
            <a:pPr indent="0" lvl="0" marL="0" rtl="0" algn="l">
              <a:spcBef>
                <a:spcPts val="0"/>
              </a:spcBef>
              <a:spcAft>
                <a:spcPts val="0"/>
              </a:spcAft>
              <a:buNone/>
            </a:pPr>
            <a:r>
              <a:t/>
            </a:r>
            <a:endParaRPr/>
          </a:p>
        </p:txBody>
      </p:sp>
      <p:sp>
        <p:nvSpPr>
          <p:cNvPr id="53" name="Google Shape;53;p2"/>
          <p:cNvSpPr/>
          <p:nvPr/>
        </p:nvSpPr>
        <p:spPr>
          <a:xfrm>
            <a:off x="6176756" y="3419300"/>
            <a:ext cx="2657100" cy="439800"/>
          </a:xfrm>
          <a:prstGeom prst="rect">
            <a:avLst/>
          </a:prstGeom>
          <a:noFill/>
          <a:ln>
            <a:noFill/>
          </a:ln>
        </p:spPr>
        <p:txBody>
          <a:bodyPr anchorCtr="0" anchor="ctr" bIns="40000" lIns="80000" spcFirstLastPara="1" rIns="80000" wrap="square" tIns="40000">
            <a:noAutofit/>
          </a:bodyPr>
          <a:lstStyle/>
          <a:p>
            <a:pPr indent="0" lvl="0" marL="457200" marR="0" rtl="0" algn="l">
              <a:spcBef>
                <a:spcPts val="0"/>
              </a:spcBef>
              <a:spcAft>
                <a:spcPts val="0"/>
              </a:spcAft>
              <a:buClr>
                <a:srgbClr val="FFFFFF"/>
              </a:buClr>
              <a:buSzPts val="1050"/>
              <a:buFont typeface="Calibri"/>
              <a:buNone/>
            </a:pPr>
            <a:r>
              <a:rPr b="1" lang="en-US" sz="1050">
                <a:solidFill>
                  <a:schemeClr val="lt1"/>
                </a:solidFill>
                <a:latin typeface="Calibri"/>
                <a:ea typeface="Calibri"/>
                <a:cs typeface="Calibri"/>
                <a:sym typeface="Calibri"/>
              </a:rPr>
              <a:t>     EN RISC DE PÈRDUA</a:t>
            </a:r>
            <a:endParaRPr b="1" i="0" sz="1050" u="none" cap="none" strike="noStrike">
              <a:solidFill>
                <a:schemeClr val="lt1"/>
              </a:solidFill>
              <a:latin typeface="Calibri"/>
              <a:ea typeface="Calibri"/>
              <a:cs typeface="Calibri"/>
              <a:sym typeface="Calibri"/>
            </a:endParaRPr>
          </a:p>
        </p:txBody>
      </p:sp>
      <p:sp>
        <p:nvSpPr>
          <p:cNvPr id="54" name="Google Shape;54;p2"/>
          <p:cNvSpPr/>
          <p:nvPr/>
        </p:nvSpPr>
        <p:spPr>
          <a:xfrm>
            <a:off x="6285499" y="3892600"/>
            <a:ext cx="2439600" cy="771300"/>
          </a:xfrm>
          <a:prstGeom prst="rect">
            <a:avLst/>
          </a:prstGeom>
          <a:noFill/>
          <a:ln>
            <a:noFill/>
          </a:ln>
        </p:spPr>
        <p:txBody>
          <a:bodyPr anchorCtr="0" anchor="ctr" bIns="40000" lIns="80000" spcFirstLastPara="1" rIns="80000" wrap="square" tIns="40000">
            <a:noAutofit/>
          </a:bodyPr>
          <a:lstStyle/>
          <a:p>
            <a:pPr indent="0" lvl="0" marL="0" marR="0" rtl="0" algn="l">
              <a:spcBef>
                <a:spcPts val="0"/>
              </a:spcBef>
              <a:spcAft>
                <a:spcPts val="0"/>
              </a:spcAft>
              <a:buClr>
                <a:srgbClr val="E97132"/>
              </a:buClr>
              <a:buSzPts val="1050"/>
              <a:buFont typeface="Calibri"/>
              <a:buNone/>
            </a:pPr>
            <a:r>
              <a:rPr lang="en-US" sz="1050">
                <a:solidFill>
                  <a:schemeClr val="dk1"/>
                </a:solidFill>
                <a:latin typeface="Calibri"/>
                <a:ea typeface="Calibri"/>
                <a:cs typeface="Calibri"/>
                <a:sym typeface="Calibri"/>
              </a:rPr>
              <a:t>Compres constants i sostingudes. Contactar quan es preveu que està a prop de quedar-se sense stock</a:t>
            </a:r>
            <a:endParaRPr sz="1050">
              <a:solidFill>
                <a:schemeClr val="dk1"/>
              </a:solidFill>
              <a:latin typeface="Calibri"/>
              <a:ea typeface="Calibri"/>
              <a:cs typeface="Calibri"/>
              <a:sym typeface="Calibri"/>
            </a:endParaRPr>
          </a:p>
          <a:p>
            <a:pPr indent="0" lvl="0" marL="0" marR="0" rtl="0" algn="l">
              <a:spcBef>
                <a:spcPts val="0"/>
              </a:spcBef>
              <a:spcAft>
                <a:spcPts val="0"/>
              </a:spcAft>
              <a:buClr>
                <a:srgbClr val="E97132"/>
              </a:buClr>
              <a:buSzPts val="1050"/>
              <a:buFont typeface="Calibri"/>
              <a:buNone/>
            </a:pPr>
            <a:r>
              <a:t/>
            </a:r>
            <a:endParaRPr sz="1050">
              <a:solidFill>
                <a:srgbClr val="1E293B"/>
              </a:solidFill>
              <a:latin typeface="Calibri"/>
              <a:ea typeface="Calibri"/>
              <a:cs typeface="Calibri"/>
              <a:sym typeface="Calibri"/>
            </a:endParaRPr>
          </a:p>
        </p:txBody>
      </p:sp>
      <p:sp>
        <p:nvSpPr>
          <p:cNvPr id="55" name="Google Shape;55;p2"/>
          <p:cNvSpPr/>
          <p:nvPr/>
        </p:nvSpPr>
        <p:spPr>
          <a:xfrm>
            <a:off x="1120050" y="1062716"/>
            <a:ext cx="6903900" cy="5916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1E293B"/>
              </a:buClr>
              <a:buSzPts val="1100"/>
              <a:buFont typeface="Calibri"/>
              <a:buNone/>
            </a:pPr>
            <a:r>
              <a:rPr b="1" lang="en-US" sz="1100">
                <a:solidFill>
                  <a:srgbClr val="1E293B"/>
                </a:solidFill>
                <a:latin typeface="Calibri"/>
                <a:ea typeface="Calibri"/>
                <a:cs typeface="Calibri"/>
                <a:sym typeface="Calibri"/>
              </a:rPr>
              <a:t>Tipus de producte</a:t>
            </a:r>
            <a:endParaRPr b="0" i="0" sz="1100" u="none" cap="none" strike="noStrike">
              <a:solidFill>
                <a:srgbClr val="1E293B"/>
              </a:solidFill>
              <a:latin typeface="Calibri"/>
              <a:ea typeface="Calibri"/>
              <a:cs typeface="Calibri"/>
              <a:sym typeface="Calibri"/>
            </a:endParaRPr>
          </a:p>
          <a:p>
            <a:pPr indent="0" lvl="0" marL="0" marR="0" rtl="0" algn="ctr">
              <a:spcBef>
                <a:spcPts val="0"/>
              </a:spcBef>
              <a:spcAft>
                <a:spcPts val="0"/>
              </a:spcAft>
              <a:buClr>
                <a:srgbClr val="1E293B"/>
              </a:buClr>
              <a:buSzPts val="1100"/>
              <a:buFont typeface="Calibri"/>
              <a:buNone/>
            </a:pPr>
            <a:r>
              <a:t/>
            </a:r>
            <a:endParaRPr sz="1100">
              <a:solidFill>
                <a:srgbClr val="1E293B"/>
              </a:solidFill>
              <a:latin typeface="Calibri"/>
              <a:ea typeface="Calibri"/>
              <a:cs typeface="Calibri"/>
              <a:sym typeface="Calibri"/>
            </a:endParaRPr>
          </a:p>
          <a:p>
            <a:pPr indent="0" lvl="0" marL="0" marR="0" rtl="0" algn="ctr">
              <a:spcBef>
                <a:spcPts val="0"/>
              </a:spcBef>
              <a:spcAft>
                <a:spcPts val="0"/>
              </a:spcAft>
              <a:buClr>
                <a:srgbClr val="1E293B"/>
              </a:buClr>
              <a:buSzPts val="1100"/>
              <a:buFont typeface="Calibri"/>
              <a:buNone/>
            </a:pPr>
            <a:r>
              <a:t/>
            </a:r>
            <a:endParaRPr sz="1100">
              <a:solidFill>
                <a:srgbClr val="1E293B"/>
              </a:solidFill>
              <a:latin typeface="Calibri"/>
              <a:ea typeface="Calibri"/>
              <a:cs typeface="Calibri"/>
              <a:sym typeface="Calibri"/>
            </a:endParaRPr>
          </a:p>
        </p:txBody>
      </p:sp>
      <p:sp>
        <p:nvSpPr>
          <p:cNvPr id="56" name="Google Shape;56;p2"/>
          <p:cNvSpPr/>
          <p:nvPr/>
        </p:nvSpPr>
        <p:spPr>
          <a:xfrm>
            <a:off x="1120050" y="2998266"/>
            <a:ext cx="6903900" cy="5916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1E293B"/>
              </a:buClr>
              <a:buSzPts val="1100"/>
              <a:buFont typeface="Calibri"/>
              <a:buNone/>
            </a:pPr>
            <a:r>
              <a:rPr b="1" lang="en-US" sz="1100">
                <a:solidFill>
                  <a:srgbClr val="1E293B"/>
                </a:solidFill>
                <a:latin typeface="Calibri"/>
                <a:ea typeface="Calibri"/>
                <a:cs typeface="Calibri"/>
                <a:sym typeface="Calibri"/>
              </a:rPr>
              <a:t>Perfils de client</a:t>
            </a:r>
            <a:endParaRPr b="0" i="0" sz="1100" u="none" cap="none" strike="noStrike">
              <a:solidFill>
                <a:srgbClr val="1E293B"/>
              </a:solidFill>
              <a:latin typeface="Calibri"/>
              <a:ea typeface="Calibri"/>
              <a:cs typeface="Calibri"/>
              <a:sym typeface="Calibri"/>
            </a:endParaRPr>
          </a:p>
          <a:p>
            <a:pPr indent="0" lvl="0" marL="0" marR="0" rtl="0" algn="ctr">
              <a:spcBef>
                <a:spcPts val="0"/>
              </a:spcBef>
              <a:spcAft>
                <a:spcPts val="0"/>
              </a:spcAft>
              <a:buClr>
                <a:srgbClr val="1E293B"/>
              </a:buClr>
              <a:buSzPts val="1100"/>
              <a:buFont typeface="Calibri"/>
              <a:buNone/>
            </a:pPr>
            <a:r>
              <a:t/>
            </a:r>
            <a:endParaRPr sz="1100">
              <a:solidFill>
                <a:srgbClr val="1E293B"/>
              </a:solidFill>
              <a:latin typeface="Calibri"/>
              <a:ea typeface="Calibri"/>
              <a:cs typeface="Calibri"/>
              <a:sym typeface="Calibri"/>
            </a:endParaRPr>
          </a:p>
          <a:p>
            <a:pPr indent="0" lvl="0" marL="0" marR="0" rtl="0" algn="ctr">
              <a:spcBef>
                <a:spcPts val="0"/>
              </a:spcBef>
              <a:spcAft>
                <a:spcPts val="0"/>
              </a:spcAft>
              <a:buClr>
                <a:srgbClr val="1E293B"/>
              </a:buClr>
              <a:buSzPts val="1100"/>
              <a:buFont typeface="Calibri"/>
              <a:buNone/>
            </a:pPr>
            <a:r>
              <a:t/>
            </a:r>
            <a:endParaRPr sz="1100">
              <a:solidFill>
                <a:srgbClr val="1E293B"/>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61" name="Shape 61"/>
        <p:cNvGrpSpPr/>
        <p:nvPr/>
      </p:nvGrpSpPr>
      <p:grpSpPr>
        <a:xfrm>
          <a:off x="0" y="0"/>
          <a:ext cx="0" cy="0"/>
          <a:chOff x="0" y="0"/>
          <a:chExt cx="0" cy="0"/>
        </a:xfrm>
      </p:grpSpPr>
      <p:sp>
        <p:nvSpPr>
          <p:cNvPr id="62" name="Google Shape;62;p4"/>
          <p:cNvSpPr/>
          <p:nvPr/>
        </p:nvSpPr>
        <p:spPr>
          <a:xfrm>
            <a:off x="0" y="0"/>
            <a:ext cx="9144000" cy="1005840"/>
          </a:xfrm>
          <a:prstGeom prst="rect">
            <a:avLst/>
          </a:prstGeom>
          <a:solidFill>
            <a:srgbClr val="0C2D3F"/>
          </a:solidFill>
          <a:ln cap="flat" cmpd="sng" w="12700">
            <a:solidFill>
              <a:srgbClr val="0C2D3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nt/user-data/uploads/client_tenure_dist.png" id="63" name="Google Shape;63;p4"/>
          <p:cNvPicPr preferRelativeResize="0"/>
          <p:nvPr/>
        </p:nvPicPr>
        <p:blipFill rotWithShape="1">
          <a:blip r:embed="rId3">
            <a:alphaModFix/>
          </a:blip>
          <a:srcRect b="0" l="0" r="0" t="0"/>
          <a:stretch/>
        </p:blipFill>
        <p:spPr>
          <a:xfrm>
            <a:off x="274263" y="1389400"/>
            <a:ext cx="4206248" cy="2325773"/>
          </a:xfrm>
          <a:prstGeom prst="rect">
            <a:avLst/>
          </a:prstGeom>
          <a:noFill/>
          <a:ln>
            <a:noFill/>
          </a:ln>
        </p:spPr>
      </p:pic>
      <p:sp>
        <p:nvSpPr>
          <p:cNvPr id="64" name="Google Shape;64;p4"/>
          <p:cNvSpPr/>
          <p:nvPr/>
        </p:nvSpPr>
        <p:spPr>
          <a:xfrm>
            <a:off x="274270" y="3733467"/>
            <a:ext cx="42063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Distribució de tenure dels clients</a:t>
            </a:r>
            <a:endParaRPr b="0" i="0" sz="900" u="none" cap="none" strike="noStrike">
              <a:solidFill>
                <a:schemeClr val="dk1"/>
              </a:solidFill>
              <a:latin typeface="Calibri"/>
              <a:ea typeface="Calibri"/>
              <a:cs typeface="Calibri"/>
              <a:sym typeface="Calibri"/>
            </a:endParaRPr>
          </a:p>
        </p:txBody>
      </p:sp>
      <p:pic>
        <p:nvPicPr>
          <p:cNvPr descr="/mnt/user-data/uploads/tenure_vs_ltv.png" id="65" name="Google Shape;65;p4"/>
          <p:cNvPicPr preferRelativeResize="0"/>
          <p:nvPr/>
        </p:nvPicPr>
        <p:blipFill rotWithShape="1">
          <a:blip r:embed="rId4">
            <a:alphaModFix/>
          </a:blip>
          <a:srcRect b="0" l="0" r="0" t="0"/>
          <a:stretch/>
        </p:blipFill>
        <p:spPr>
          <a:xfrm>
            <a:off x="4663388" y="1389400"/>
            <a:ext cx="4206248" cy="2325776"/>
          </a:xfrm>
          <a:prstGeom prst="rect">
            <a:avLst/>
          </a:prstGeom>
          <a:noFill/>
          <a:ln>
            <a:noFill/>
          </a:ln>
        </p:spPr>
      </p:pic>
      <p:sp>
        <p:nvSpPr>
          <p:cNvPr id="66" name="Google Shape;66;p4"/>
          <p:cNvSpPr/>
          <p:nvPr/>
        </p:nvSpPr>
        <p:spPr>
          <a:xfrm>
            <a:off x="4663390" y="3733467"/>
            <a:ext cx="42063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Relació tenure → Lifetime Value (escala log)</a:t>
            </a:r>
            <a:endParaRPr b="0" i="0" sz="900" u="none" cap="none" strike="noStrike">
              <a:solidFill>
                <a:schemeClr val="dk1"/>
              </a:solidFill>
              <a:latin typeface="Calibri"/>
              <a:ea typeface="Calibri"/>
              <a:cs typeface="Calibri"/>
              <a:sym typeface="Calibri"/>
            </a:endParaRPr>
          </a:p>
        </p:txBody>
      </p:sp>
      <p:sp>
        <p:nvSpPr>
          <p:cNvPr id="67" name="Google Shape;67;p4"/>
          <p:cNvSpPr/>
          <p:nvPr/>
        </p:nvSpPr>
        <p:spPr>
          <a:xfrm>
            <a:off x="793275" y="4055475"/>
            <a:ext cx="3168300" cy="63540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4"/>
          <p:cNvSpPr/>
          <p:nvPr/>
        </p:nvSpPr>
        <p:spPr>
          <a:xfrm>
            <a:off x="839025" y="4055475"/>
            <a:ext cx="3054000" cy="635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C2D3F"/>
              </a:buClr>
              <a:buSzPts val="1000"/>
              <a:buFont typeface="Calibri"/>
              <a:buNone/>
            </a:pPr>
            <a:r>
              <a:rPr lang="en-US" sz="1000">
                <a:solidFill>
                  <a:srgbClr val="0C2D3F"/>
                </a:solidFill>
                <a:latin typeface="Calibri"/>
                <a:ea typeface="Calibri"/>
                <a:cs typeface="Calibri"/>
                <a:sym typeface="Calibri"/>
              </a:rPr>
              <a:t>Moltes vendes tenen lloc esporàdicament, i moltes altres les fan els clients de llarg recorregut. A excepció dels extrems la distribució és uniforme.</a:t>
            </a:r>
            <a:endParaRPr/>
          </a:p>
        </p:txBody>
      </p:sp>
      <p:sp>
        <p:nvSpPr>
          <p:cNvPr id="69" name="Google Shape;69;p4"/>
          <p:cNvSpPr/>
          <p:nvPr/>
        </p:nvSpPr>
        <p:spPr>
          <a:xfrm>
            <a:off x="5182362" y="4055475"/>
            <a:ext cx="3168300" cy="50280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4"/>
          <p:cNvSpPr/>
          <p:nvPr/>
        </p:nvSpPr>
        <p:spPr>
          <a:xfrm>
            <a:off x="5228113" y="4055475"/>
            <a:ext cx="30540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C2D3F"/>
              </a:buClr>
              <a:buSzPts val="1000"/>
              <a:buFont typeface="Calibri"/>
              <a:buNone/>
            </a:pPr>
            <a:r>
              <a:rPr lang="en-US" sz="1000">
                <a:solidFill>
                  <a:srgbClr val="0C2D3F"/>
                </a:solidFill>
                <a:latin typeface="Calibri"/>
                <a:ea typeface="Calibri"/>
                <a:cs typeface="Calibri"/>
                <a:sym typeface="Calibri"/>
              </a:rPr>
              <a:t>La sigmoide de la gràfica ens indica que els clients amb antiguitat són aquells que suposen un aport econòmic més gran a l’empresa.</a:t>
            </a:r>
            <a:endParaRPr/>
          </a:p>
        </p:txBody>
      </p:sp>
      <p:sp>
        <p:nvSpPr>
          <p:cNvPr id="71" name="Google Shape;71;p4"/>
          <p:cNvSpPr/>
          <p:nvPr/>
        </p:nvSpPr>
        <p:spPr>
          <a:xfrm>
            <a:off x="0" y="9575"/>
            <a:ext cx="9144000" cy="986700"/>
          </a:xfrm>
          <a:prstGeom prst="rect">
            <a:avLst/>
          </a:prstGeom>
          <a:solidFill>
            <a:srgbClr val="2D1B69">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4"/>
          <p:cNvSpPr/>
          <p:nvPr/>
        </p:nvSpPr>
        <p:spPr>
          <a:xfrm>
            <a:off x="457200" y="91440"/>
            <a:ext cx="64008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Dades i evidència</a:t>
            </a:r>
            <a:endParaRPr b="0" i="0" sz="2800" u="none" cap="none" strike="noStrike">
              <a:solidFill>
                <a:schemeClr val="dk1"/>
              </a:solidFill>
              <a:latin typeface="Calibri"/>
              <a:ea typeface="Calibri"/>
              <a:cs typeface="Calibri"/>
              <a:sym typeface="Calibri"/>
            </a:endParaRPr>
          </a:p>
        </p:txBody>
      </p:sp>
      <p:sp>
        <p:nvSpPr>
          <p:cNvPr id="73" name="Google Shape;73;p4"/>
          <p:cNvSpPr/>
          <p:nvPr/>
        </p:nvSpPr>
        <p:spPr>
          <a:xfrm>
            <a:off x="457200" y="566928"/>
            <a:ext cx="82296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3C5D8"/>
              </a:buClr>
              <a:buSzPts val="1100"/>
              <a:buFont typeface="Calibri"/>
              <a:buNone/>
            </a:pPr>
            <a:r>
              <a:rPr b="0" i="0" lang="en-US" sz="1100" u="none" cap="none" strike="noStrike">
                <a:solidFill>
                  <a:srgbClr val="FFFFFF"/>
                </a:solidFill>
                <a:latin typeface="Calibri"/>
                <a:ea typeface="Calibri"/>
                <a:cs typeface="Calibri"/>
                <a:sym typeface="Calibri"/>
              </a:rPr>
              <a:t>+5 anys d'historial · 6.000 clíniques · Granularitat diària</a:t>
            </a:r>
            <a:endParaRPr b="0" i="0" sz="1100" u="none" cap="none" strike="noStrike">
              <a:solidFill>
                <a:srgbClr val="FFFFFF"/>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78" name="Shape 78"/>
        <p:cNvGrpSpPr/>
        <p:nvPr/>
      </p:nvGrpSpPr>
      <p:grpSpPr>
        <a:xfrm>
          <a:off x="0" y="0"/>
          <a:ext cx="0" cy="0"/>
          <a:chOff x="0" y="0"/>
          <a:chExt cx="0" cy="0"/>
        </a:xfrm>
      </p:grpSpPr>
      <p:pic>
        <p:nvPicPr>
          <p:cNvPr descr="/mnt/user-data/uploads/spender_comparison_overlay.png" id="79" name="Google Shape;79;g3e07470ca22_0_0"/>
          <p:cNvPicPr preferRelativeResize="0"/>
          <p:nvPr/>
        </p:nvPicPr>
        <p:blipFill rotWithShape="1">
          <a:blip r:embed="rId3">
            <a:alphaModFix/>
          </a:blip>
          <a:srcRect b="0" l="0" r="0" t="0"/>
          <a:stretch/>
        </p:blipFill>
        <p:spPr>
          <a:xfrm>
            <a:off x="1209804" y="1151184"/>
            <a:ext cx="6769750" cy="3153502"/>
          </a:xfrm>
          <a:prstGeom prst="rect">
            <a:avLst/>
          </a:prstGeom>
          <a:noFill/>
          <a:ln>
            <a:noFill/>
          </a:ln>
        </p:spPr>
      </p:pic>
      <p:sp>
        <p:nvSpPr>
          <p:cNvPr id="80" name="Google Shape;80;g3e07470ca22_0_0"/>
          <p:cNvSpPr/>
          <p:nvPr/>
        </p:nvSpPr>
        <p:spPr>
          <a:xfrm>
            <a:off x="0" y="0"/>
            <a:ext cx="9144000" cy="1005900"/>
          </a:xfrm>
          <a:prstGeom prst="rect">
            <a:avLst/>
          </a:prstGeom>
          <a:solidFill>
            <a:srgbClr val="0C2D3F"/>
          </a:solidFill>
          <a:ln cap="flat" cmpd="sng" w="12700">
            <a:solidFill>
              <a:srgbClr val="0C2D3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g3e07470ca22_0_0"/>
          <p:cNvSpPr/>
          <p:nvPr/>
        </p:nvSpPr>
        <p:spPr>
          <a:xfrm>
            <a:off x="0" y="9575"/>
            <a:ext cx="9144000" cy="986700"/>
          </a:xfrm>
          <a:prstGeom prst="rect">
            <a:avLst/>
          </a:prstGeom>
          <a:solidFill>
            <a:srgbClr val="2D1B69">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g3e07470ca22_0_0"/>
          <p:cNvSpPr/>
          <p:nvPr/>
        </p:nvSpPr>
        <p:spPr>
          <a:xfrm>
            <a:off x="457200" y="91440"/>
            <a:ext cx="6400800" cy="822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Dades i evidència</a:t>
            </a:r>
            <a:endParaRPr b="0" i="0" sz="2800" u="none" cap="none" strike="noStrike">
              <a:solidFill>
                <a:schemeClr val="dk1"/>
              </a:solidFill>
              <a:latin typeface="Calibri"/>
              <a:ea typeface="Calibri"/>
              <a:cs typeface="Calibri"/>
              <a:sym typeface="Calibri"/>
            </a:endParaRPr>
          </a:p>
        </p:txBody>
      </p:sp>
      <p:sp>
        <p:nvSpPr>
          <p:cNvPr id="83" name="Google Shape;83;g3e07470ca22_0_0"/>
          <p:cNvSpPr/>
          <p:nvPr/>
        </p:nvSpPr>
        <p:spPr>
          <a:xfrm>
            <a:off x="457200" y="566928"/>
            <a:ext cx="8229600" cy="34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3C5D8"/>
              </a:buClr>
              <a:buSzPts val="1100"/>
              <a:buFont typeface="Calibri"/>
              <a:buNone/>
            </a:pPr>
            <a:r>
              <a:rPr b="0" i="0" lang="en-US" sz="1100" u="none" cap="none" strike="noStrike">
                <a:solidFill>
                  <a:srgbClr val="FFFFFF"/>
                </a:solidFill>
                <a:latin typeface="Calibri"/>
                <a:ea typeface="Calibri"/>
                <a:cs typeface="Calibri"/>
                <a:sym typeface="Calibri"/>
              </a:rPr>
              <a:t>+5 anys d'historial · 6.000 clíniques · Granularitat diària</a:t>
            </a:r>
            <a:endParaRPr b="0" i="0" sz="1100" u="none" cap="none" strike="noStrike">
              <a:solidFill>
                <a:srgbClr val="FFFFFF"/>
              </a:solidFill>
              <a:latin typeface="Calibri"/>
              <a:ea typeface="Calibri"/>
              <a:cs typeface="Calibri"/>
              <a:sym typeface="Calibri"/>
            </a:endParaRPr>
          </a:p>
        </p:txBody>
      </p:sp>
      <p:sp>
        <p:nvSpPr>
          <p:cNvPr id="84" name="Google Shape;84;g3e07470ca22_0_0"/>
          <p:cNvSpPr txBox="1"/>
          <p:nvPr/>
        </p:nvSpPr>
        <p:spPr>
          <a:xfrm>
            <a:off x="554100" y="4434850"/>
            <a:ext cx="80358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1000">
                <a:solidFill>
                  <a:srgbClr val="0C2D3F"/>
                </a:solidFill>
                <a:latin typeface="Calibri"/>
                <a:ea typeface="Calibri"/>
                <a:cs typeface="Calibri"/>
                <a:sym typeface="Calibri"/>
              </a:rPr>
              <a:t>Trobem que entre el quart d’usuaris que menys gasta i el que quart que més gasta, no hi ha una diferència abismal entre els preus de les comandes individuals (de fet, hi ha força solapament) Per tant, molta part del pes econòmic que tenen aquests clients prové dels cops que compra enlloc de les despeses a cada compra.</a:t>
            </a:r>
            <a:endParaRPr sz="1000">
              <a:solidFill>
                <a:srgbClr val="0C2D3F"/>
              </a:solidFill>
              <a:latin typeface="Calibri"/>
              <a:ea typeface="Calibri"/>
              <a:cs typeface="Calibri"/>
              <a:sym typeface="Calibri"/>
            </a:endParaRPr>
          </a:p>
          <a:p>
            <a:pPr indent="0" lvl="0" marL="0" rtl="0" algn="l">
              <a:spcBef>
                <a:spcPts val="0"/>
              </a:spcBef>
              <a:spcAft>
                <a:spcPts val="0"/>
              </a:spcAft>
              <a:buNone/>
            </a:pPr>
            <a:r>
              <a:t/>
            </a:r>
            <a:endParaRPr sz="1000">
              <a:solidFill>
                <a:srgbClr val="0C2D3F"/>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89" name="Shape 89"/>
        <p:cNvGrpSpPr/>
        <p:nvPr/>
      </p:nvGrpSpPr>
      <p:grpSpPr>
        <a:xfrm>
          <a:off x="0" y="0"/>
          <a:ext cx="0" cy="0"/>
          <a:chOff x="0" y="0"/>
          <a:chExt cx="0" cy="0"/>
        </a:xfrm>
      </p:grpSpPr>
      <p:sp>
        <p:nvSpPr>
          <p:cNvPr id="90" name="Google Shape;90;g3dff27db3ed_0_0"/>
          <p:cNvSpPr/>
          <p:nvPr/>
        </p:nvSpPr>
        <p:spPr>
          <a:xfrm>
            <a:off x="0" y="0"/>
            <a:ext cx="9144000" cy="1005900"/>
          </a:xfrm>
          <a:prstGeom prst="rect">
            <a:avLst/>
          </a:prstGeom>
          <a:solidFill>
            <a:srgbClr val="0C2D3F"/>
          </a:solidFill>
          <a:ln cap="flat" cmpd="sng" w="12700">
            <a:solidFill>
              <a:srgbClr val="0C2D3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g3dff27db3ed_0_0"/>
          <p:cNvSpPr/>
          <p:nvPr/>
        </p:nvSpPr>
        <p:spPr>
          <a:xfrm>
            <a:off x="83975" y="91500"/>
            <a:ext cx="8504700" cy="822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Calibri"/>
              <a:buNone/>
            </a:pPr>
            <a:r>
              <a:rPr b="1" lang="en-US" sz="2600">
                <a:solidFill>
                  <a:srgbClr val="FFFFFF"/>
                </a:solidFill>
                <a:latin typeface="Calibri"/>
                <a:ea typeface="Calibri"/>
                <a:cs typeface="Calibri"/>
                <a:sym typeface="Calibri"/>
              </a:rPr>
              <a:t>Enfocament unitari del problema (1/3): Famílies de productes</a:t>
            </a:r>
            <a:endParaRPr b="0" i="0" sz="2600" u="none" cap="none" strike="noStrike">
              <a:solidFill>
                <a:schemeClr val="dk1"/>
              </a:solidFill>
              <a:latin typeface="Calibri"/>
              <a:ea typeface="Calibri"/>
              <a:cs typeface="Calibri"/>
              <a:sym typeface="Calibri"/>
            </a:endParaRPr>
          </a:p>
        </p:txBody>
      </p:sp>
      <p:sp>
        <p:nvSpPr>
          <p:cNvPr id="92" name="Google Shape;92;g3dff27db3ed_0_0"/>
          <p:cNvSpPr/>
          <p:nvPr/>
        </p:nvSpPr>
        <p:spPr>
          <a:xfrm>
            <a:off x="457200" y="566928"/>
            <a:ext cx="8229600" cy="34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3C5D8"/>
              </a:buClr>
              <a:buSzPts val="1100"/>
              <a:buFont typeface="Calibri"/>
              <a:buNone/>
            </a:pPr>
            <a:r>
              <a:t/>
            </a:r>
            <a:endParaRPr b="0" i="0" sz="1100" u="none" cap="none" strike="noStrike">
              <a:solidFill>
                <a:schemeClr val="dk1"/>
              </a:solidFill>
              <a:latin typeface="Calibri"/>
              <a:ea typeface="Calibri"/>
              <a:cs typeface="Calibri"/>
              <a:sym typeface="Calibri"/>
            </a:endParaRPr>
          </a:p>
        </p:txBody>
      </p:sp>
      <p:sp>
        <p:nvSpPr>
          <p:cNvPr id="93" name="Google Shape;93;g3dff27db3ed_0_0"/>
          <p:cNvSpPr/>
          <p:nvPr/>
        </p:nvSpPr>
        <p:spPr>
          <a:xfrm>
            <a:off x="139595" y="3732038"/>
            <a:ext cx="42063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900"/>
              <a:buFont typeface="Calibri"/>
              <a:buNone/>
            </a:pPr>
            <a:r>
              <a:rPr lang="en-US" sz="900">
                <a:solidFill>
                  <a:srgbClr val="64748B"/>
                </a:solidFill>
                <a:latin typeface="Calibri"/>
                <a:ea typeface="Calibri"/>
                <a:cs typeface="Calibri"/>
                <a:sym typeface="Calibri"/>
              </a:rPr>
              <a:t>Comparació entre les tendències de ventes de les diferents classes de productes</a:t>
            </a:r>
            <a:endParaRPr b="0" i="0" sz="900" u="none" cap="none" strike="noStrike">
              <a:solidFill>
                <a:schemeClr val="dk1"/>
              </a:solidFill>
              <a:latin typeface="Calibri"/>
              <a:ea typeface="Calibri"/>
              <a:cs typeface="Calibri"/>
              <a:sym typeface="Calibri"/>
            </a:endParaRPr>
          </a:p>
        </p:txBody>
      </p:sp>
      <p:sp>
        <p:nvSpPr>
          <p:cNvPr id="94" name="Google Shape;94;g3dff27db3ed_0_0"/>
          <p:cNvSpPr/>
          <p:nvPr/>
        </p:nvSpPr>
        <p:spPr>
          <a:xfrm>
            <a:off x="4663365" y="3746813"/>
            <a:ext cx="42063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900"/>
              <a:buFont typeface="Calibri"/>
              <a:buNone/>
            </a:pPr>
            <a:r>
              <a:rPr lang="en-US" sz="900">
                <a:solidFill>
                  <a:srgbClr val="64748B"/>
                </a:solidFill>
                <a:latin typeface="Calibri"/>
                <a:ea typeface="Calibri"/>
                <a:cs typeface="Calibri"/>
                <a:sym typeface="Calibri"/>
              </a:rPr>
              <a:t>Correlació entre les distribucions de cada família de productes</a:t>
            </a:r>
            <a:endParaRPr b="0" i="0" sz="900" u="none" cap="none" strike="noStrike">
              <a:solidFill>
                <a:schemeClr val="dk1"/>
              </a:solidFill>
              <a:latin typeface="Calibri"/>
              <a:ea typeface="Calibri"/>
              <a:cs typeface="Calibri"/>
              <a:sym typeface="Calibri"/>
            </a:endParaRPr>
          </a:p>
        </p:txBody>
      </p:sp>
      <p:sp>
        <p:nvSpPr>
          <p:cNvPr id="95" name="Google Shape;95;g3dff27db3ed_0_0"/>
          <p:cNvSpPr/>
          <p:nvPr/>
        </p:nvSpPr>
        <p:spPr>
          <a:xfrm>
            <a:off x="871133" y="4070875"/>
            <a:ext cx="2743200" cy="50280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g3dff27db3ed_0_0"/>
          <p:cNvSpPr/>
          <p:nvPr/>
        </p:nvSpPr>
        <p:spPr>
          <a:xfrm>
            <a:off x="916853" y="4070875"/>
            <a:ext cx="26517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C2D3F"/>
              </a:buClr>
              <a:buSzPts val="1000"/>
              <a:buFont typeface="Calibri"/>
              <a:buNone/>
            </a:pPr>
            <a:r>
              <a:rPr lang="en-US" sz="1000">
                <a:solidFill>
                  <a:srgbClr val="0C2D3F"/>
                </a:solidFill>
                <a:latin typeface="Calibri"/>
                <a:ea typeface="Calibri"/>
                <a:cs typeface="Calibri"/>
                <a:sym typeface="Calibri"/>
              </a:rPr>
              <a:t>Observem tendències molt semblants entre les diferents famílies de productes</a:t>
            </a:r>
            <a:endParaRPr b="0" i="0" sz="1000" u="none" cap="none" strike="noStrike">
              <a:solidFill>
                <a:schemeClr val="dk1"/>
              </a:solidFill>
              <a:latin typeface="Calibri"/>
              <a:ea typeface="Calibri"/>
              <a:cs typeface="Calibri"/>
              <a:sym typeface="Calibri"/>
            </a:endParaRPr>
          </a:p>
        </p:txBody>
      </p:sp>
      <p:sp>
        <p:nvSpPr>
          <p:cNvPr id="97" name="Google Shape;97;g3dff27db3ed_0_0"/>
          <p:cNvSpPr/>
          <p:nvPr/>
        </p:nvSpPr>
        <p:spPr>
          <a:xfrm>
            <a:off x="5394930" y="4070875"/>
            <a:ext cx="2743200" cy="50280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g3dff27db3ed_0_0"/>
          <p:cNvSpPr/>
          <p:nvPr/>
        </p:nvSpPr>
        <p:spPr>
          <a:xfrm>
            <a:off x="5440650" y="4070875"/>
            <a:ext cx="26517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C2D3F"/>
              </a:buClr>
              <a:buSzPts val="1000"/>
              <a:buFont typeface="Calibri"/>
              <a:buNone/>
            </a:pPr>
            <a:r>
              <a:rPr lang="en-US" sz="1000">
                <a:solidFill>
                  <a:srgbClr val="0C2D3F"/>
                </a:solidFill>
                <a:latin typeface="Calibri"/>
                <a:ea typeface="Calibri"/>
                <a:cs typeface="Calibri"/>
                <a:sym typeface="Calibri"/>
              </a:rPr>
              <a:t>Trobem correlacions mitjanament fortes o molt fortes (&gt;= .65) en les distribucions de les diferents famílies de productes.</a:t>
            </a:r>
            <a:endParaRPr b="0" i="0" sz="1000" u="none" cap="none" strike="noStrike">
              <a:solidFill>
                <a:schemeClr val="dk1"/>
              </a:solidFill>
              <a:latin typeface="Calibri"/>
              <a:ea typeface="Calibri"/>
              <a:cs typeface="Calibri"/>
              <a:sym typeface="Calibri"/>
            </a:endParaRPr>
          </a:p>
        </p:txBody>
      </p:sp>
      <p:pic>
        <p:nvPicPr>
          <p:cNvPr id="99" name="Google Shape;99;g3dff27db3ed_0_0"/>
          <p:cNvPicPr preferRelativeResize="0"/>
          <p:nvPr/>
        </p:nvPicPr>
        <p:blipFill>
          <a:blip r:embed="rId3">
            <a:alphaModFix/>
          </a:blip>
          <a:stretch>
            <a:fillRect/>
          </a:stretch>
        </p:blipFill>
        <p:spPr>
          <a:xfrm>
            <a:off x="5394925" y="1164125"/>
            <a:ext cx="2743200" cy="2424479"/>
          </a:xfrm>
          <a:prstGeom prst="rect">
            <a:avLst/>
          </a:prstGeom>
          <a:noFill/>
          <a:ln>
            <a:noFill/>
          </a:ln>
        </p:spPr>
      </p:pic>
      <p:pic>
        <p:nvPicPr>
          <p:cNvPr id="100" name="Google Shape;100;g3dff27db3ed_0_0"/>
          <p:cNvPicPr preferRelativeResize="0"/>
          <p:nvPr/>
        </p:nvPicPr>
        <p:blipFill>
          <a:blip r:embed="rId4">
            <a:alphaModFix/>
          </a:blip>
          <a:stretch>
            <a:fillRect/>
          </a:stretch>
        </p:blipFill>
        <p:spPr>
          <a:xfrm>
            <a:off x="572213" y="1193088"/>
            <a:ext cx="3341025" cy="23107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05" name="Shape 105"/>
        <p:cNvGrpSpPr/>
        <p:nvPr/>
      </p:nvGrpSpPr>
      <p:grpSpPr>
        <a:xfrm>
          <a:off x="0" y="0"/>
          <a:ext cx="0" cy="0"/>
          <a:chOff x="0" y="0"/>
          <a:chExt cx="0" cy="0"/>
        </a:xfrm>
      </p:grpSpPr>
      <p:sp>
        <p:nvSpPr>
          <p:cNvPr id="106" name="Google Shape;106;g3dff27db3ed_0_20"/>
          <p:cNvSpPr/>
          <p:nvPr/>
        </p:nvSpPr>
        <p:spPr>
          <a:xfrm>
            <a:off x="0" y="0"/>
            <a:ext cx="9144000" cy="1005900"/>
          </a:xfrm>
          <a:prstGeom prst="rect">
            <a:avLst/>
          </a:prstGeom>
          <a:solidFill>
            <a:srgbClr val="0C2D3F"/>
          </a:solidFill>
          <a:ln cap="flat" cmpd="sng" w="12700">
            <a:solidFill>
              <a:srgbClr val="0C2D3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g3dff27db3ed_0_20"/>
          <p:cNvSpPr/>
          <p:nvPr/>
        </p:nvSpPr>
        <p:spPr>
          <a:xfrm>
            <a:off x="83975" y="91500"/>
            <a:ext cx="9445500" cy="822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Calibri"/>
              <a:buNone/>
            </a:pPr>
            <a:r>
              <a:rPr b="1" lang="en-US" sz="2600">
                <a:solidFill>
                  <a:srgbClr val="FFFFFF"/>
                </a:solidFill>
                <a:latin typeface="Calibri"/>
                <a:ea typeface="Calibri"/>
                <a:cs typeface="Calibri"/>
                <a:sym typeface="Calibri"/>
              </a:rPr>
              <a:t>Enfocament unitari del problema (2/3): </a:t>
            </a:r>
            <a:r>
              <a:rPr b="1" i="1" lang="en-US" sz="2600">
                <a:solidFill>
                  <a:srgbClr val="FFFFFF"/>
                </a:solidFill>
                <a:latin typeface="Calibri"/>
                <a:ea typeface="Calibri"/>
                <a:cs typeface="Calibri"/>
                <a:sym typeface="Calibri"/>
              </a:rPr>
              <a:t>Top Spenders vs Bottom Spenders</a:t>
            </a:r>
            <a:endParaRPr b="1" i="1" sz="2600">
              <a:solidFill>
                <a:srgbClr val="FFFFFF"/>
              </a:solidFill>
              <a:latin typeface="Calibri"/>
              <a:ea typeface="Calibri"/>
              <a:cs typeface="Calibri"/>
              <a:sym typeface="Calibri"/>
            </a:endParaRPr>
          </a:p>
        </p:txBody>
      </p:sp>
      <p:sp>
        <p:nvSpPr>
          <p:cNvPr id="108" name="Google Shape;108;g3dff27db3ed_0_20"/>
          <p:cNvSpPr/>
          <p:nvPr/>
        </p:nvSpPr>
        <p:spPr>
          <a:xfrm>
            <a:off x="457200" y="566928"/>
            <a:ext cx="8229600" cy="34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3C5D8"/>
              </a:buClr>
              <a:buSzPts val="1100"/>
              <a:buFont typeface="Calibri"/>
              <a:buNone/>
            </a:pPr>
            <a:r>
              <a:t/>
            </a:r>
            <a:endParaRPr b="0" i="0" sz="1100" u="none" cap="none" strike="noStrike">
              <a:solidFill>
                <a:schemeClr val="dk1"/>
              </a:solidFill>
              <a:latin typeface="Calibri"/>
              <a:ea typeface="Calibri"/>
              <a:cs typeface="Calibri"/>
              <a:sym typeface="Calibri"/>
            </a:endParaRPr>
          </a:p>
        </p:txBody>
      </p:sp>
      <p:sp>
        <p:nvSpPr>
          <p:cNvPr id="109" name="Google Shape;109;g3dff27db3ed_0_20"/>
          <p:cNvSpPr/>
          <p:nvPr/>
        </p:nvSpPr>
        <p:spPr>
          <a:xfrm>
            <a:off x="139570" y="3785430"/>
            <a:ext cx="42063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110" name="Google Shape;110;g3dff27db3ed_0_20"/>
          <p:cNvSpPr/>
          <p:nvPr/>
        </p:nvSpPr>
        <p:spPr>
          <a:xfrm>
            <a:off x="320040" y="4000505"/>
            <a:ext cx="42063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4748B"/>
              </a:buClr>
              <a:buSzPts val="900"/>
              <a:buFont typeface="Calibri"/>
              <a:buNone/>
            </a:pPr>
            <a:r>
              <a:rPr lang="en-US" sz="900">
                <a:solidFill>
                  <a:srgbClr val="64748B"/>
                </a:solidFill>
                <a:latin typeface="Calibri"/>
                <a:ea typeface="Calibri"/>
                <a:cs typeface="Calibri"/>
                <a:sym typeface="Calibri"/>
              </a:rPr>
              <a:t>Comparació entre </a:t>
            </a:r>
            <a:r>
              <a:rPr i="1" lang="en-US" sz="900">
                <a:solidFill>
                  <a:srgbClr val="64748B"/>
                </a:solidFill>
                <a:latin typeface="Calibri"/>
                <a:ea typeface="Calibri"/>
                <a:cs typeface="Calibri"/>
                <a:sym typeface="Calibri"/>
              </a:rPr>
              <a:t>top 25% spenders </a:t>
            </a:r>
            <a:r>
              <a:rPr lang="en-US" sz="900">
                <a:solidFill>
                  <a:srgbClr val="64748B"/>
                </a:solidFill>
                <a:latin typeface="Calibri"/>
                <a:ea typeface="Calibri"/>
                <a:cs typeface="Calibri"/>
                <a:sym typeface="Calibri"/>
              </a:rPr>
              <a:t>i </a:t>
            </a:r>
            <a:r>
              <a:rPr i="1" lang="en-US" sz="900">
                <a:solidFill>
                  <a:srgbClr val="64748B"/>
                </a:solidFill>
                <a:latin typeface="Calibri"/>
                <a:ea typeface="Calibri"/>
                <a:cs typeface="Calibri"/>
                <a:sym typeface="Calibri"/>
              </a:rPr>
              <a:t>bottom 25% spenders</a:t>
            </a:r>
            <a:endParaRPr b="0" i="1" sz="900" u="none" cap="none" strike="noStrike">
              <a:solidFill>
                <a:schemeClr val="dk1"/>
              </a:solidFill>
              <a:latin typeface="Calibri"/>
              <a:ea typeface="Calibri"/>
              <a:cs typeface="Calibri"/>
              <a:sym typeface="Calibri"/>
            </a:endParaRPr>
          </a:p>
        </p:txBody>
      </p:sp>
      <p:sp>
        <p:nvSpPr>
          <p:cNvPr id="111" name="Google Shape;111;g3dff27db3ed_0_20"/>
          <p:cNvSpPr/>
          <p:nvPr/>
        </p:nvSpPr>
        <p:spPr>
          <a:xfrm>
            <a:off x="5405850" y="1795850"/>
            <a:ext cx="3168300" cy="77640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g3dff27db3ed_0_20"/>
          <p:cNvSpPr/>
          <p:nvPr/>
        </p:nvSpPr>
        <p:spPr>
          <a:xfrm>
            <a:off x="5451600" y="1857300"/>
            <a:ext cx="3054000" cy="822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0C2D3F"/>
              </a:buClr>
              <a:buSzPts val="1000"/>
              <a:buFont typeface="Calibri"/>
              <a:buNone/>
            </a:pPr>
            <a:r>
              <a:rPr lang="en-US" sz="1000">
                <a:solidFill>
                  <a:srgbClr val="0C2D3F"/>
                </a:solidFill>
                <a:latin typeface="Calibri"/>
                <a:ea typeface="Calibri"/>
                <a:cs typeface="Calibri"/>
                <a:sym typeface="Calibri"/>
              </a:rPr>
              <a:t> </a:t>
            </a:r>
            <a:endParaRPr sz="1000">
              <a:solidFill>
                <a:srgbClr val="0C2D3F"/>
              </a:solidFill>
              <a:latin typeface="Calibri"/>
              <a:ea typeface="Calibri"/>
              <a:cs typeface="Calibri"/>
              <a:sym typeface="Calibri"/>
            </a:endParaRPr>
          </a:p>
          <a:p>
            <a:pPr indent="0" lvl="0" marL="0" rtl="0" algn="l">
              <a:spcBef>
                <a:spcPts val="0"/>
              </a:spcBef>
              <a:spcAft>
                <a:spcPts val="0"/>
              </a:spcAft>
              <a:buClr>
                <a:srgbClr val="0C2D3F"/>
              </a:buClr>
              <a:buSzPts val="1000"/>
              <a:buFont typeface="Calibri"/>
              <a:buNone/>
            </a:pPr>
            <a:r>
              <a:rPr lang="en-US" sz="1000">
                <a:solidFill>
                  <a:srgbClr val="0C2D3F"/>
                </a:solidFill>
                <a:latin typeface="Calibri"/>
                <a:ea typeface="Calibri"/>
                <a:cs typeface="Calibri"/>
                <a:sym typeface="Calibri"/>
              </a:rPr>
              <a:t>Només difereixen en variació en l’eix vertical </a:t>
            </a:r>
            <a:endParaRPr sz="1000">
              <a:solidFill>
                <a:srgbClr val="0C2D3F"/>
              </a:solidFill>
              <a:latin typeface="Calibri"/>
              <a:ea typeface="Calibri"/>
              <a:cs typeface="Calibri"/>
              <a:sym typeface="Calibri"/>
            </a:endParaRPr>
          </a:p>
          <a:p>
            <a:pPr indent="0" lvl="0" marL="0" rtl="0" algn="l">
              <a:spcBef>
                <a:spcPts val="0"/>
              </a:spcBef>
              <a:spcAft>
                <a:spcPts val="0"/>
              </a:spcAft>
              <a:buClr>
                <a:srgbClr val="0C2D3F"/>
              </a:buClr>
              <a:buSzPts val="1000"/>
              <a:buFont typeface="Calibri"/>
              <a:buNone/>
            </a:pPr>
            <a:r>
              <a:t/>
            </a:r>
            <a:endParaRPr sz="1000">
              <a:solidFill>
                <a:srgbClr val="0C2D3F"/>
              </a:solidFill>
              <a:latin typeface="Calibri"/>
              <a:ea typeface="Calibri"/>
              <a:cs typeface="Calibri"/>
              <a:sym typeface="Calibri"/>
            </a:endParaRPr>
          </a:p>
          <a:p>
            <a:pPr indent="0" lvl="0" marL="0" rtl="0" algn="l">
              <a:spcBef>
                <a:spcPts val="0"/>
              </a:spcBef>
              <a:spcAft>
                <a:spcPts val="0"/>
              </a:spcAft>
              <a:buClr>
                <a:srgbClr val="0C2D3F"/>
              </a:buClr>
              <a:buSzPts val="1000"/>
              <a:buFont typeface="Calibri"/>
              <a:buNone/>
            </a:pPr>
            <a:r>
              <a:rPr lang="en-US" sz="1000">
                <a:solidFill>
                  <a:srgbClr val="0C2D3F"/>
                </a:solidFill>
                <a:latin typeface="Calibri"/>
                <a:ea typeface="Calibri"/>
                <a:cs typeface="Calibri"/>
                <a:sym typeface="Calibri"/>
              </a:rPr>
              <a:t>(</a:t>
            </a:r>
            <a:r>
              <a:rPr lang="en-US" sz="1000">
                <a:solidFill>
                  <a:srgbClr val="0C2D3F"/>
                </a:solidFill>
                <a:latin typeface="Calibri"/>
                <a:ea typeface="Calibri"/>
                <a:cs typeface="Calibri"/>
                <a:sym typeface="Calibri"/>
              </a:rPr>
              <a:t>A part de la diferència d’alçada, inherent a la comparació)</a:t>
            </a:r>
            <a:endParaRPr sz="1000">
              <a:solidFill>
                <a:srgbClr val="0C2D3F"/>
              </a:solidFill>
              <a:latin typeface="Calibri"/>
              <a:ea typeface="Calibri"/>
              <a:cs typeface="Calibri"/>
              <a:sym typeface="Calibri"/>
            </a:endParaRPr>
          </a:p>
          <a:p>
            <a:pPr indent="0" lvl="0" marL="0" rtl="0" algn="l">
              <a:spcBef>
                <a:spcPts val="0"/>
              </a:spcBef>
              <a:spcAft>
                <a:spcPts val="0"/>
              </a:spcAft>
              <a:buClr>
                <a:srgbClr val="0C2D3F"/>
              </a:buClr>
              <a:buSzPts val="1000"/>
              <a:buFont typeface="Calibri"/>
              <a:buNone/>
            </a:pPr>
            <a:r>
              <a:t/>
            </a:r>
            <a:endParaRPr sz="1000">
              <a:solidFill>
                <a:srgbClr val="0C2D3F"/>
              </a:solidFill>
              <a:latin typeface="Calibri"/>
              <a:ea typeface="Calibri"/>
              <a:cs typeface="Calibri"/>
              <a:sym typeface="Calibri"/>
            </a:endParaRPr>
          </a:p>
          <a:p>
            <a:pPr indent="0" lvl="0" marL="0" rtl="0" algn="l">
              <a:spcBef>
                <a:spcPts val="0"/>
              </a:spcBef>
              <a:spcAft>
                <a:spcPts val="0"/>
              </a:spcAft>
              <a:buClr>
                <a:srgbClr val="0C2D3F"/>
              </a:buClr>
              <a:buSzPts val="1000"/>
              <a:buFont typeface="Calibri"/>
              <a:buNone/>
            </a:pPr>
            <a:r>
              <a:t/>
            </a:r>
            <a:endParaRPr sz="1000">
              <a:solidFill>
                <a:srgbClr val="0C2D3F"/>
              </a:solidFill>
              <a:latin typeface="Calibri"/>
              <a:ea typeface="Calibri"/>
              <a:cs typeface="Calibri"/>
              <a:sym typeface="Calibri"/>
            </a:endParaRPr>
          </a:p>
        </p:txBody>
      </p:sp>
      <p:sp>
        <p:nvSpPr>
          <p:cNvPr id="113" name="Google Shape;113;g3dff27db3ed_0_20"/>
          <p:cNvSpPr/>
          <p:nvPr/>
        </p:nvSpPr>
        <p:spPr>
          <a:xfrm>
            <a:off x="5405874" y="1211350"/>
            <a:ext cx="3168300" cy="50280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g3dff27db3ed_0_20"/>
          <p:cNvSpPr/>
          <p:nvPr/>
        </p:nvSpPr>
        <p:spPr>
          <a:xfrm>
            <a:off x="5451625" y="1211350"/>
            <a:ext cx="30540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C2D3F"/>
              </a:buClr>
              <a:buSzPts val="1000"/>
              <a:buFont typeface="Calibri"/>
              <a:buNone/>
            </a:pPr>
            <a:r>
              <a:rPr lang="en-US" sz="1000">
                <a:solidFill>
                  <a:srgbClr val="0C2D3F"/>
                </a:solidFill>
                <a:latin typeface="Calibri"/>
                <a:ea typeface="Calibri"/>
                <a:cs typeface="Calibri"/>
                <a:sym typeface="Calibri"/>
              </a:rPr>
              <a:t>Les funcions dels </a:t>
            </a:r>
            <a:r>
              <a:rPr i="1" lang="en-US" sz="1000">
                <a:solidFill>
                  <a:srgbClr val="0C2D3F"/>
                </a:solidFill>
                <a:latin typeface="Calibri"/>
                <a:ea typeface="Calibri"/>
                <a:cs typeface="Calibri"/>
                <a:sym typeface="Calibri"/>
              </a:rPr>
              <a:t>Top Spenders </a:t>
            </a:r>
            <a:r>
              <a:rPr lang="en-US" sz="1000">
                <a:solidFill>
                  <a:srgbClr val="0C2D3F"/>
                </a:solidFill>
                <a:latin typeface="Calibri"/>
                <a:ea typeface="Calibri"/>
                <a:cs typeface="Calibri"/>
                <a:sym typeface="Calibri"/>
              </a:rPr>
              <a:t>i els </a:t>
            </a:r>
            <a:r>
              <a:rPr i="1" lang="en-US" sz="1000">
                <a:solidFill>
                  <a:srgbClr val="0C2D3F"/>
                </a:solidFill>
                <a:latin typeface="Calibri"/>
                <a:ea typeface="Calibri"/>
                <a:cs typeface="Calibri"/>
                <a:sym typeface="Calibri"/>
              </a:rPr>
              <a:t>Bottom Spenders </a:t>
            </a:r>
            <a:r>
              <a:rPr lang="en-US" sz="1000">
                <a:solidFill>
                  <a:srgbClr val="0C2D3F"/>
                </a:solidFill>
                <a:latin typeface="Calibri"/>
                <a:ea typeface="Calibri"/>
                <a:cs typeface="Calibri"/>
                <a:sym typeface="Calibri"/>
              </a:rPr>
              <a:t>són homòlogues.</a:t>
            </a:r>
            <a:r>
              <a:rPr lang="en-US"/>
              <a:t> </a:t>
            </a:r>
            <a:endParaRPr/>
          </a:p>
        </p:txBody>
      </p:sp>
      <p:pic>
        <p:nvPicPr>
          <p:cNvPr id="115" name="Google Shape;115;g3dff27db3ed_0_20"/>
          <p:cNvPicPr preferRelativeResize="0"/>
          <p:nvPr/>
        </p:nvPicPr>
        <p:blipFill>
          <a:blip r:embed="rId3">
            <a:alphaModFix/>
          </a:blip>
          <a:stretch>
            <a:fillRect/>
          </a:stretch>
        </p:blipFill>
        <p:spPr>
          <a:xfrm>
            <a:off x="274325" y="1211354"/>
            <a:ext cx="4778152" cy="2693413"/>
          </a:xfrm>
          <a:prstGeom prst="rect">
            <a:avLst/>
          </a:prstGeom>
          <a:noFill/>
          <a:ln>
            <a:noFill/>
          </a:ln>
        </p:spPr>
      </p:pic>
      <p:sp>
        <p:nvSpPr>
          <p:cNvPr id="116" name="Google Shape;116;g3dff27db3ed_0_20"/>
          <p:cNvSpPr txBox="1"/>
          <p:nvPr/>
        </p:nvSpPr>
        <p:spPr>
          <a:xfrm>
            <a:off x="1170875" y="4454200"/>
            <a:ext cx="727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000">
                <a:solidFill>
                  <a:srgbClr val="0C2D3F"/>
                </a:solidFill>
                <a:latin typeface="Calibri"/>
                <a:ea typeface="Calibri"/>
                <a:cs typeface="Calibri"/>
                <a:sym typeface="Calibri"/>
              </a:rPr>
              <a:t>La implicació contraintuïtiva és que el patró de compra dels top i bottom spenders és estructuralment el mateix.</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21" name="Shape 121"/>
        <p:cNvGrpSpPr/>
        <p:nvPr/>
      </p:nvGrpSpPr>
      <p:grpSpPr>
        <a:xfrm>
          <a:off x="0" y="0"/>
          <a:ext cx="0" cy="0"/>
          <a:chOff x="0" y="0"/>
          <a:chExt cx="0" cy="0"/>
        </a:xfrm>
      </p:grpSpPr>
      <p:sp>
        <p:nvSpPr>
          <p:cNvPr id="122" name="Google Shape;122;g3e07470ca22_4_6"/>
          <p:cNvSpPr/>
          <p:nvPr/>
        </p:nvSpPr>
        <p:spPr>
          <a:xfrm>
            <a:off x="0" y="0"/>
            <a:ext cx="9144000" cy="1005900"/>
          </a:xfrm>
          <a:prstGeom prst="rect">
            <a:avLst/>
          </a:prstGeom>
          <a:solidFill>
            <a:srgbClr val="0C2D3F"/>
          </a:solidFill>
          <a:ln cap="flat" cmpd="sng" w="12700">
            <a:solidFill>
              <a:srgbClr val="0C2D3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g3e07470ca22_4_6"/>
          <p:cNvSpPr/>
          <p:nvPr/>
        </p:nvSpPr>
        <p:spPr>
          <a:xfrm>
            <a:off x="83975" y="91500"/>
            <a:ext cx="9445500" cy="822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Calibri"/>
              <a:buNone/>
            </a:pPr>
            <a:r>
              <a:rPr b="1" lang="en-US" sz="2800">
                <a:solidFill>
                  <a:srgbClr val="FFFFFF"/>
                </a:solidFill>
                <a:latin typeface="Calibri"/>
                <a:ea typeface="Calibri"/>
                <a:cs typeface="Calibri"/>
                <a:sym typeface="Calibri"/>
              </a:rPr>
              <a:t>Enfocament unitari del problema (3/3): Perfils de client</a:t>
            </a:r>
            <a:endParaRPr b="1" sz="2800">
              <a:solidFill>
                <a:srgbClr val="FFFFFF"/>
              </a:solidFill>
              <a:latin typeface="Calibri"/>
              <a:ea typeface="Calibri"/>
              <a:cs typeface="Calibri"/>
              <a:sym typeface="Calibri"/>
            </a:endParaRPr>
          </a:p>
        </p:txBody>
      </p:sp>
      <p:sp>
        <p:nvSpPr>
          <p:cNvPr id="124" name="Google Shape;124;g3e07470ca22_4_6"/>
          <p:cNvSpPr/>
          <p:nvPr/>
        </p:nvSpPr>
        <p:spPr>
          <a:xfrm>
            <a:off x="457200" y="566928"/>
            <a:ext cx="8229600" cy="34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3C5D8"/>
              </a:buClr>
              <a:buSzPts val="1100"/>
              <a:buFont typeface="Calibri"/>
              <a:buNone/>
            </a:pPr>
            <a:r>
              <a:t/>
            </a:r>
            <a:endParaRPr b="0" i="0" sz="1100" u="none" cap="none" strike="noStrike">
              <a:solidFill>
                <a:schemeClr val="dk1"/>
              </a:solidFill>
              <a:latin typeface="Calibri"/>
              <a:ea typeface="Calibri"/>
              <a:cs typeface="Calibri"/>
              <a:sym typeface="Calibri"/>
            </a:endParaRPr>
          </a:p>
        </p:txBody>
      </p:sp>
      <p:sp>
        <p:nvSpPr>
          <p:cNvPr id="125" name="Google Shape;125;g3e07470ca22_4_6"/>
          <p:cNvSpPr/>
          <p:nvPr/>
        </p:nvSpPr>
        <p:spPr>
          <a:xfrm>
            <a:off x="5405875" y="1238575"/>
            <a:ext cx="3168300" cy="154470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6" name="Google Shape;126;g3e07470ca22_4_6"/>
          <p:cNvPicPr preferRelativeResize="0"/>
          <p:nvPr/>
        </p:nvPicPr>
        <p:blipFill>
          <a:blip r:embed="rId3">
            <a:alphaModFix/>
          </a:blip>
          <a:stretch>
            <a:fillRect/>
          </a:stretch>
        </p:blipFill>
        <p:spPr>
          <a:xfrm>
            <a:off x="288475" y="1117475"/>
            <a:ext cx="4805776" cy="1885100"/>
          </a:xfrm>
          <a:prstGeom prst="rect">
            <a:avLst/>
          </a:prstGeom>
          <a:noFill/>
          <a:ln>
            <a:noFill/>
          </a:ln>
        </p:spPr>
      </p:pic>
      <p:sp>
        <p:nvSpPr>
          <p:cNvPr id="127" name="Google Shape;127;g3e07470ca22_4_6"/>
          <p:cNvSpPr/>
          <p:nvPr/>
        </p:nvSpPr>
        <p:spPr>
          <a:xfrm>
            <a:off x="5463025" y="1005900"/>
            <a:ext cx="3054000" cy="2007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C2D3F"/>
              </a:buClr>
              <a:buSzPts val="1000"/>
              <a:buFont typeface="Calibri"/>
              <a:buNone/>
            </a:pPr>
            <a:r>
              <a:rPr lang="en-US" sz="1000">
                <a:solidFill>
                  <a:srgbClr val="0C2D3F"/>
                </a:solidFill>
                <a:latin typeface="Calibri"/>
                <a:ea typeface="Calibri"/>
                <a:cs typeface="Calibri"/>
                <a:sym typeface="Calibri"/>
              </a:rPr>
              <a:t>Rere analitzar els gràfics de molts clients i observar-ne les tendències, hem arribat a la conclusió de que no es pot extrapolar si l’usuari és promiscu o si s’està perdent, perque no es pot extrapolar que un client deixi de comprar a partir d’un mínim local:</a:t>
            </a:r>
            <a:endParaRPr sz="1000">
              <a:solidFill>
                <a:srgbClr val="0C2D3F"/>
              </a:solidFill>
              <a:latin typeface="Calibri"/>
              <a:ea typeface="Calibri"/>
              <a:cs typeface="Calibri"/>
              <a:sym typeface="Calibri"/>
            </a:endParaRPr>
          </a:p>
          <a:p>
            <a:pPr indent="0" lvl="0" marL="0" marR="0" rtl="0" algn="l">
              <a:spcBef>
                <a:spcPts val="0"/>
              </a:spcBef>
              <a:spcAft>
                <a:spcPts val="0"/>
              </a:spcAft>
              <a:buClr>
                <a:srgbClr val="0C2D3F"/>
              </a:buClr>
              <a:buSzPts val="1000"/>
              <a:buFont typeface="Calibri"/>
              <a:buNone/>
            </a:pPr>
            <a:r>
              <a:t/>
            </a:r>
            <a:endParaRPr sz="1000">
              <a:solidFill>
                <a:srgbClr val="0C2D3F"/>
              </a:solidFill>
              <a:latin typeface="Calibri"/>
              <a:ea typeface="Calibri"/>
              <a:cs typeface="Calibri"/>
              <a:sym typeface="Calibri"/>
            </a:endParaRPr>
          </a:p>
          <a:p>
            <a:pPr indent="0" lvl="0" marL="0" marR="0" rtl="0" algn="l">
              <a:spcBef>
                <a:spcPts val="0"/>
              </a:spcBef>
              <a:spcAft>
                <a:spcPts val="0"/>
              </a:spcAft>
              <a:buClr>
                <a:srgbClr val="0C2D3F"/>
              </a:buClr>
              <a:buSzPts val="1000"/>
              <a:buFont typeface="Calibri"/>
              <a:buNone/>
            </a:pPr>
            <a:r>
              <a:rPr lang="en-US" sz="1000">
                <a:solidFill>
                  <a:srgbClr val="0C2D3F"/>
                </a:solidFill>
                <a:latin typeface="Calibri"/>
                <a:ea typeface="Calibri"/>
                <a:cs typeface="Calibri"/>
                <a:sym typeface="Calibri"/>
              </a:rPr>
              <a:t>que un client deixi de comprar és independent a la trajectòria que portés en el moment que deixa de comprar.</a:t>
            </a:r>
            <a:endParaRPr sz="1000">
              <a:solidFill>
                <a:srgbClr val="0C2D3F"/>
              </a:solidFill>
              <a:latin typeface="Calibri"/>
              <a:ea typeface="Calibri"/>
              <a:cs typeface="Calibri"/>
              <a:sym typeface="Calibri"/>
            </a:endParaRPr>
          </a:p>
        </p:txBody>
      </p:sp>
      <p:pic>
        <p:nvPicPr>
          <p:cNvPr id="128" name="Google Shape;128;g3e07470ca22_4_6"/>
          <p:cNvPicPr preferRelativeResize="0"/>
          <p:nvPr/>
        </p:nvPicPr>
        <p:blipFill>
          <a:blip r:embed="rId4">
            <a:alphaModFix/>
          </a:blip>
          <a:stretch>
            <a:fillRect/>
          </a:stretch>
        </p:blipFill>
        <p:spPr>
          <a:xfrm>
            <a:off x="288475" y="3114155"/>
            <a:ext cx="4805775" cy="1836545"/>
          </a:xfrm>
          <a:prstGeom prst="rect">
            <a:avLst/>
          </a:prstGeom>
          <a:noFill/>
          <a:ln>
            <a:noFill/>
          </a:ln>
        </p:spPr>
      </p:pic>
      <p:sp>
        <p:nvSpPr>
          <p:cNvPr id="129" name="Google Shape;129;g3e07470ca22_4_6"/>
          <p:cNvSpPr/>
          <p:nvPr/>
        </p:nvSpPr>
        <p:spPr>
          <a:xfrm>
            <a:off x="5405875" y="2964575"/>
            <a:ext cx="3168300" cy="48540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g3e07470ca22_4_6"/>
          <p:cNvSpPr/>
          <p:nvPr/>
        </p:nvSpPr>
        <p:spPr>
          <a:xfrm>
            <a:off x="5405875" y="2873075"/>
            <a:ext cx="3054000" cy="92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C2D3F"/>
              </a:buClr>
              <a:buSzPts val="1000"/>
              <a:buFont typeface="Calibri"/>
              <a:buNone/>
            </a:pPr>
            <a:r>
              <a:rPr lang="en-US" sz="1000">
                <a:solidFill>
                  <a:srgbClr val="0C2D3F"/>
                </a:solidFill>
                <a:latin typeface="Calibri"/>
                <a:ea typeface="Calibri"/>
                <a:cs typeface="Calibri"/>
                <a:sym typeface="Calibri"/>
              </a:rPr>
              <a:t>Aquí, per exemple, veiem com la trajectòria de dos clients s’acaba després d’un màxim.</a:t>
            </a:r>
            <a:endParaRPr sz="1000">
              <a:solidFill>
                <a:srgbClr val="0C2D3F"/>
              </a:solidFill>
              <a:latin typeface="Calibri"/>
              <a:ea typeface="Calibri"/>
              <a:cs typeface="Calibri"/>
              <a:sym typeface="Calibri"/>
            </a:endParaRPr>
          </a:p>
          <a:p>
            <a:pPr indent="0" lvl="0" marL="0" marR="0" rtl="0" algn="l">
              <a:spcBef>
                <a:spcPts val="0"/>
              </a:spcBef>
              <a:spcAft>
                <a:spcPts val="0"/>
              </a:spcAft>
              <a:buClr>
                <a:srgbClr val="0C2D3F"/>
              </a:buClr>
              <a:buSzPts val="1000"/>
              <a:buFont typeface="Calibri"/>
              <a:buNone/>
            </a:pPr>
            <a:r>
              <a:t/>
            </a:r>
            <a:endParaRPr sz="1000">
              <a:solidFill>
                <a:srgbClr val="0C2D3F"/>
              </a:solidFill>
              <a:latin typeface="Calibri"/>
              <a:ea typeface="Calibri"/>
              <a:cs typeface="Calibri"/>
              <a:sym typeface="Calibri"/>
            </a:endParaRPr>
          </a:p>
          <a:p>
            <a:pPr indent="0" lvl="0" marL="0" marR="0" rtl="0" algn="l">
              <a:spcBef>
                <a:spcPts val="0"/>
              </a:spcBef>
              <a:spcAft>
                <a:spcPts val="0"/>
              </a:spcAft>
              <a:buClr>
                <a:srgbClr val="0C2D3F"/>
              </a:buClr>
              <a:buSzPts val="1000"/>
              <a:buFont typeface="Calibri"/>
              <a:buNone/>
            </a:pPr>
            <a:r>
              <a:t/>
            </a:r>
            <a:endParaRPr sz="1000">
              <a:solidFill>
                <a:srgbClr val="0C2D3F"/>
              </a:solidFill>
              <a:latin typeface="Calibri"/>
              <a:ea typeface="Calibri"/>
              <a:cs typeface="Calibri"/>
              <a:sym typeface="Calibri"/>
            </a:endParaRPr>
          </a:p>
        </p:txBody>
      </p:sp>
      <p:sp>
        <p:nvSpPr>
          <p:cNvPr id="131" name="Google Shape;131;g3e07470ca22_4_6"/>
          <p:cNvSpPr/>
          <p:nvPr/>
        </p:nvSpPr>
        <p:spPr>
          <a:xfrm>
            <a:off x="5405875" y="3631275"/>
            <a:ext cx="3168300" cy="104790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g3e07470ca22_4_6"/>
          <p:cNvSpPr/>
          <p:nvPr/>
        </p:nvSpPr>
        <p:spPr>
          <a:xfrm>
            <a:off x="5451625" y="3692725"/>
            <a:ext cx="3054000" cy="1105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0C2D3F"/>
              </a:buClr>
              <a:buSzPts val="1000"/>
              <a:buFont typeface="Calibri"/>
              <a:buNone/>
            </a:pPr>
            <a:r>
              <a:rPr b="1" lang="en-US" sz="1000">
                <a:solidFill>
                  <a:srgbClr val="0C2D3F"/>
                </a:solidFill>
                <a:latin typeface="Calibri"/>
                <a:ea typeface="Calibri"/>
                <a:cs typeface="Calibri"/>
                <a:sym typeface="Calibri"/>
              </a:rPr>
              <a:t>En conclusió: optem per a un enfocament unitari de l’algoritme (que no distingeix entre famílies de producte ni perfil de clients) perque no hi ha prou diferències significatives en el comportament de les famílies entre elles ni dels diferents perfils de clients entre elles).</a:t>
            </a:r>
            <a:endParaRPr b="1" sz="1000">
              <a:solidFill>
                <a:srgbClr val="0C2D3F"/>
              </a:solidFill>
              <a:latin typeface="Calibri"/>
              <a:ea typeface="Calibri"/>
              <a:cs typeface="Calibri"/>
              <a:sym typeface="Calibri"/>
            </a:endParaRPr>
          </a:p>
          <a:p>
            <a:pPr indent="0" lvl="0" marL="0" rtl="0" algn="l">
              <a:spcBef>
                <a:spcPts val="0"/>
              </a:spcBef>
              <a:spcAft>
                <a:spcPts val="0"/>
              </a:spcAft>
              <a:buClr>
                <a:srgbClr val="0C2D3F"/>
              </a:buClr>
              <a:buSzPts val="1000"/>
              <a:buFont typeface="Calibri"/>
              <a:buNone/>
            </a:pPr>
            <a:r>
              <a:t/>
            </a:r>
            <a:endParaRPr sz="1000">
              <a:solidFill>
                <a:srgbClr val="0C2D3F"/>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37" name="Shape 137"/>
        <p:cNvGrpSpPr/>
        <p:nvPr/>
      </p:nvGrpSpPr>
      <p:grpSpPr>
        <a:xfrm>
          <a:off x="0" y="0"/>
          <a:ext cx="0" cy="0"/>
          <a:chOff x="0" y="0"/>
          <a:chExt cx="0" cy="0"/>
        </a:xfrm>
      </p:grpSpPr>
      <p:sp>
        <p:nvSpPr>
          <p:cNvPr id="138" name="Google Shape;138;p3"/>
          <p:cNvSpPr/>
          <p:nvPr/>
        </p:nvSpPr>
        <p:spPr>
          <a:xfrm>
            <a:off x="0" y="0"/>
            <a:ext cx="9144000" cy="1005840"/>
          </a:xfrm>
          <a:prstGeom prst="rect">
            <a:avLst/>
          </a:prstGeom>
          <a:solidFill>
            <a:srgbClr val="0C2D3F"/>
          </a:solidFill>
          <a:ln cap="flat" cmpd="sng" w="12700">
            <a:solidFill>
              <a:srgbClr val="1560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3"/>
          <p:cNvSpPr/>
          <p:nvPr/>
        </p:nvSpPr>
        <p:spPr>
          <a:xfrm>
            <a:off x="365750" y="1143000"/>
            <a:ext cx="73200" cy="2714700"/>
          </a:xfrm>
          <a:prstGeom prst="rect">
            <a:avLst/>
          </a:prstGeom>
          <a:solidFill>
            <a:srgbClr val="E97132"/>
          </a:solidFill>
          <a:ln cap="flat" cmpd="sng" w="12700">
            <a:solidFill>
              <a:srgbClr val="E971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3"/>
          <p:cNvSpPr/>
          <p:nvPr/>
        </p:nvSpPr>
        <p:spPr>
          <a:xfrm>
            <a:off x="548640" y="1234440"/>
            <a:ext cx="3657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97132"/>
              </a:buClr>
              <a:buSzPts val="1300"/>
              <a:buFont typeface="Calibri"/>
              <a:buNone/>
            </a:pPr>
            <a:r>
              <a:rPr b="1" i="0" lang="en-US" sz="1300" u="none" cap="none" strike="noStrike">
                <a:solidFill>
                  <a:srgbClr val="E97132"/>
                </a:solidFill>
                <a:latin typeface="Calibri"/>
                <a:ea typeface="Calibri"/>
                <a:cs typeface="Calibri"/>
                <a:sym typeface="Calibri"/>
              </a:rPr>
              <a:t>Commodity</a:t>
            </a:r>
            <a:endParaRPr b="0" i="0" sz="1300" u="none" cap="none" strike="noStrike">
              <a:solidFill>
                <a:schemeClr val="dk1"/>
              </a:solidFill>
              <a:latin typeface="Calibri"/>
              <a:ea typeface="Calibri"/>
              <a:cs typeface="Calibri"/>
              <a:sym typeface="Calibri"/>
            </a:endParaRPr>
          </a:p>
        </p:txBody>
      </p:sp>
      <p:sp>
        <p:nvSpPr>
          <p:cNvPr id="141" name="Google Shape;141;p3"/>
          <p:cNvSpPr/>
          <p:nvPr/>
        </p:nvSpPr>
        <p:spPr>
          <a:xfrm>
            <a:off x="548630" y="1560635"/>
            <a:ext cx="3566100" cy="2157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93B"/>
              </a:buClr>
              <a:buSzPts val="1100"/>
              <a:buFont typeface="Calibri"/>
              <a:buNone/>
            </a:pPr>
            <a:r>
              <a:rPr b="1" lang="en-US" sz="1100">
                <a:solidFill>
                  <a:srgbClr val="1E293B"/>
                </a:solidFill>
                <a:latin typeface="Calibri"/>
                <a:ea typeface="Calibri"/>
                <a:cs typeface="Calibri"/>
                <a:sym typeface="Calibri"/>
              </a:rPr>
              <a:t>El marge de tolerància va del 15% al 30%, depenent de la confiança.</a:t>
            </a:r>
            <a:endParaRPr b="1" sz="1100">
              <a:solidFill>
                <a:srgbClr val="1E293B"/>
              </a:solidFill>
              <a:latin typeface="Calibri"/>
              <a:ea typeface="Calibri"/>
              <a:cs typeface="Calibri"/>
              <a:sym typeface="Calibri"/>
            </a:endParaRPr>
          </a:p>
          <a:p>
            <a:pPr indent="0" lvl="0" marL="0" marR="0" rtl="0" algn="l">
              <a:spcBef>
                <a:spcPts val="0"/>
              </a:spcBef>
              <a:spcAft>
                <a:spcPts val="0"/>
              </a:spcAft>
              <a:buClr>
                <a:srgbClr val="1E293B"/>
              </a:buClr>
              <a:buSzPts val="1100"/>
              <a:buFont typeface="Calibri"/>
              <a:buNone/>
            </a:pPr>
            <a:r>
              <a:t/>
            </a:r>
            <a:endParaRPr b="1" sz="1100">
              <a:solidFill>
                <a:srgbClr val="1E293B"/>
              </a:solidFill>
              <a:latin typeface="Calibri"/>
              <a:ea typeface="Calibri"/>
              <a:cs typeface="Calibri"/>
              <a:sym typeface="Calibri"/>
            </a:endParaRPr>
          </a:p>
          <a:p>
            <a:pPr indent="0" lvl="0" marL="0" marR="0" rtl="0" algn="l">
              <a:spcBef>
                <a:spcPts val="0"/>
              </a:spcBef>
              <a:spcAft>
                <a:spcPts val="0"/>
              </a:spcAft>
              <a:buClr>
                <a:srgbClr val="1E293B"/>
              </a:buClr>
              <a:buSzPts val="1100"/>
              <a:buFont typeface="Calibri"/>
              <a:buNone/>
            </a:pPr>
            <a:r>
              <a:t/>
            </a:r>
            <a:endParaRPr b="1" sz="1100">
              <a:solidFill>
                <a:srgbClr val="1E293B"/>
              </a:solidFill>
              <a:latin typeface="Calibri"/>
              <a:ea typeface="Calibri"/>
              <a:cs typeface="Calibri"/>
              <a:sym typeface="Calibri"/>
            </a:endParaRPr>
          </a:p>
          <a:p>
            <a:pPr indent="0" lvl="0" marL="0" marR="0" rtl="0" algn="l">
              <a:spcBef>
                <a:spcPts val="0"/>
              </a:spcBef>
              <a:spcAft>
                <a:spcPts val="0"/>
              </a:spcAft>
              <a:buClr>
                <a:srgbClr val="1E293B"/>
              </a:buClr>
              <a:buSzPts val="1100"/>
              <a:buFont typeface="Calibri"/>
              <a:buNone/>
            </a:pPr>
            <a:r>
              <a:t/>
            </a:r>
            <a:endParaRPr b="1" sz="1100">
              <a:solidFill>
                <a:srgbClr val="1E293B"/>
              </a:solidFill>
              <a:latin typeface="Calibri"/>
              <a:ea typeface="Calibri"/>
              <a:cs typeface="Calibri"/>
              <a:sym typeface="Calibri"/>
            </a:endParaRPr>
          </a:p>
          <a:p>
            <a:pPr indent="0" lvl="0" marL="0" marR="0" rtl="0" algn="l">
              <a:spcBef>
                <a:spcPts val="0"/>
              </a:spcBef>
              <a:spcAft>
                <a:spcPts val="0"/>
              </a:spcAft>
              <a:buClr>
                <a:srgbClr val="1E293B"/>
              </a:buClr>
              <a:buSzPts val="1100"/>
              <a:buFont typeface="Calibri"/>
              <a:buNone/>
            </a:pPr>
            <a:r>
              <a:t/>
            </a:r>
            <a:endParaRPr b="1" sz="1100">
              <a:solidFill>
                <a:srgbClr val="1E293B"/>
              </a:solidFill>
              <a:latin typeface="Calibri"/>
              <a:ea typeface="Calibri"/>
              <a:cs typeface="Calibri"/>
              <a:sym typeface="Calibri"/>
            </a:endParaRPr>
          </a:p>
          <a:p>
            <a:pPr indent="0" lvl="0" marL="0" marR="0" rtl="0" algn="l">
              <a:spcBef>
                <a:spcPts val="0"/>
              </a:spcBef>
              <a:spcAft>
                <a:spcPts val="0"/>
              </a:spcAft>
              <a:buClr>
                <a:srgbClr val="1E293B"/>
              </a:buClr>
              <a:buSzPts val="1100"/>
              <a:buFont typeface="Calibri"/>
              <a:buNone/>
            </a:pPr>
            <a:r>
              <a:t/>
            </a:r>
            <a:endParaRPr b="1" sz="1100">
              <a:solidFill>
                <a:srgbClr val="1E293B"/>
              </a:solidFill>
              <a:latin typeface="Calibri"/>
              <a:ea typeface="Calibri"/>
              <a:cs typeface="Calibri"/>
              <a:sym typeface="Calibri"/>
            </a:endParaRPr>
          </a:p>
          <a:p>
            <a:pPr indent="0" lvl="0" marL="0" marR="0" rtl="0" algn="l">
              <a:spcBef>
                <a:spcPts val="0"/>
              </a:spcBef>
              <a:spcAft>
                <a:spcPts val="0"/>
              </a:spcAft>
              <a:buClr>
                <a:srgbClr val="1E293B"/>
              </a:buClr>
              <a:buSzPts val="1100"/>
              <a:buFont typeface="Calibri"/>
              <a:buNone/>
            </a:pPr>
            <a:r>
              <a:t/>
            </a:r>
            <a:endParaRPr b="1" sz="1100">
              <a:solidFill>
                <a:srgbClr val="1E293B"/>
              </a:solidFill>
              <a:latin typeface="Calibri"/>
              <a:ea typeface="Calibri"/>
              <a:cs typeface="Calibri"/>
              <a:sym typeface="Calibri"/>
            </a:endParaRPr>
          </a:p>
          <a:p>
            <a:pPr indent="0" lvl="0" marL="0" marR="0" rtl="0" algn="l">
              <a:spcBef>
                <a:spcPts val="0"/>
              </a:spcBef>
              <a:spcAft>
                <a:spcPts val="0"/>
              </a:spcAft>
              <a:buClr>
                <a:srgbClr val="1E293B"/>
              </a:buClr>
              <a:buSzPts val="1100"/>
              <a:buFont typeface="Calibri"/>
              <a:buNone/>
            </a:pPr>
            <a:r>
              <a:t/>
            </a:r>
            <a:endParaRPr b="1" sz="1100">
              <a:solidFill>
                <a:srgbClr val="1E293B"/>
              </a:solidFill>
              <a:latin typeface="Calibri"/>
              <a:ea typeface="Calibri"/>
              <a:cs typeface="Calibri"/>
              <a:sym typeface="Calibri"/>
            </a:endParaRPr>
          </a:p>
          <a:p>
            <a:pPr indent="0" lvl="0" marL="0" marR="0" rtl="0" algn="l">
              <a:spcBef>
                <a:spcPts val="0"/>
              </a:spcBef>
              <a:spcAft>
                <a:spcPts val="0"/>
              </a:spcAft>
              <a:buClr>
                <a:srgbClr val="1E293B"/>
              </a:buClr>
              <a:buSzPts val="1100"/>
              <a:buFont typeface="Calibri"/>
              <a:buNone/>
            </a:pPr>
            <a:r>
              <a:t/>
            </a:r>
            <a:endParaRPr b="1" sz="1100">
              <a:solidFill>
                <a:srgbClr val="1E293B"/>
              </a:solidFill>
              <a:latin typeface="Calibri"/>
              <a:ea typeface="Calibri"/>
              <a:cs typeface="Calibri"/>
              <a:sym typeface="Calibri"/>
            </a:endParaRPr>
          </a:p>
          <a:p>
            <a:pPr indent="0" lvl="0" marL="0" marR="0" rtl="0" algn="l">
              <a:spcBef>
                <a:spcPts val="0"/>
              </a:spcBef>
              <a:spcAft>
                <a:spcPts val="0"/>
              </a:spcAft>
              <a:buClr>
                <a:srgbClr val="1E293B"/>
              </a:buClr>
              <a:buSzPts val="1100"/>
              <a:buFont typeface="Calibri"/>
              <a:buNone/>
            </a:pPr>
            <a:r>
              <a:t/>
            </a:r>
            <a:endParaRPr b="1" sz="1100">
              <a:solidFill>
                <a:srgbClr val="1E293B"/>
              </a:solidFill>
              <a:latin typeface="Calibri"/>
              <a:ea typeface="Calibri"/>
              <a:cs typeface="Calibri"/>
              <a:sym typeface="Calibri"/>
            </a:endParaRPr>
          </a:p>
          <a:p>
            <a:pPr indent="0" lvl="0" marL="0" marR="0" rtl="0" algn="l">
              <a:spcBef>
                <a:spcPts val="0"/>
              </a:spcBef>
              <a:spcAft>
                <a:spcPts val="0"/>
              </a:spcAft>
              <a:buClr>
                <a:srgbClr val="1E293B"/>
              </a:buClr>
              <a:buSzPts val="1100"/>
              <a:buFont typeface="Calibri"/>
              <a:buNone/>
            </a:pPr>
            <a:r>
              <a:t/>
            </a:r>
            <a:endParaRPr b="1" sz="1100">
              <a:solidFill>
                <a:srgbClr val="1E293B"/>
              </a:solidFill>
              <a:latin typeface="Calibri"/>
              <a:ea typeface="Calibri"/>
              <a:cs typeface="Calibri"/>
              <a:sym typeface="Calibri"/>
            </a:endParaRPr>
          </a:p>
          <a:p>
            <a:pPr indent="0" lvl="0" marL="0" marR="0" rtl="0" algn="l">
              <a:spcBef>
                <a:spcPts val="0"/>
              </a:spcBef>
              <a:spcAft>
                <a:spcPts val="0"/>
              </a:spcAft>
              <a:buClr>
                <a:srgbClr val="1E293B"/>
              </a:buClr>
              <a:buSzPts val="1100"/>
              <a:buFont typeface="Calibri"/>
              <a:buNone/>
            </a:pPr>
            <a:r>
              <a:t/>
            </a:r>
            <a:endParaRPr b="1" sz="1100">
              <a:solidFill>
                <a:srgbClr val="1E293B"/>
              </a:solidFill>
              <a:latin typeface="Calibri"/>
              <a:ea typeface="Calibri"/>
              <a:cs typeface="Calibri"/>
              <a:sym typeface="Calibri"/>
            </a:endParaRPr>
          </a:p>
        </p:txBody>
      </p:sp>
      <p:sp>
        <p:nvSpPr>
          <p:cNvPr id="142" name="Google Shape;142;p3"/>
          <p:cNvSpPr/>
          <p:nvPr/>
        </p:nvSpPr>
        <p:spPr>
          <a:xfrm>
            <a:off x="4663450" y="1143000"/>
            <a:ext cx="4114800" cy="271470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3"/>
          <p:cNvSpPr/>
          <p:nvPr/>
        </p:nvSpPr>
        <p:spPr>
          <a:xfrm>
            <a:off x="4663450" y="1143000"/>
            <a:ext cx="73200" cy="2714700"/>
          </a:xfrm>
          <a:prstGeom prst="rect">
            <a:avLst/>
          </a:prstGeom>
          <a:solidFill>
            <a:srgbClr val="0F9ED5"/>
          </a:solidFill>
          <a:ln cap="flat" cmpd="sng" w="12700">
            <a:solidFill>
              <a:srgbClr val="0F9ED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3"/>
          <p:cNvSpPr/>
          <p:nvPr/>
        </p:nvSpPr>
        <p:spPr>
          <a:xfrm>
            <a:off x="4846320" y="1234440"/>
            <a:ext cx="3749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6082"/>
              </a:buClr>
              <a:buSzPts val="1300"/>
              <a:buFont typeface="Calibri"/>
              <a:buNone/>
            </a:pPr>
            <a:r>
              <a:rPr b="1" i="0" lang="en-US" sz="1300" u="none" cap="none" strike="noStrike">
                <a:solidFill>
                  <a:srgbClr val="156082"/>
                </a:solidFill>
                <a:latin typeface="Calibri"/>
                <a:ea typeface="Calibri"/>
                <a:cs typeface="Calibri"/>
                <a:sym typeface="Calibri"/>
              </a:rPr>
              <a:t>Tècnic</a:t>
            </a:r>
            <a:endParaRPr b="0" i="0" sz="1300" u="none" cap="none" strike="noStrike">
              <a:solidFill>
                <a:schemeClr val="dk1"/>
              </a:solidFill>
              <a:latin typeface="Calibri"/>
              <a:ea typeface="Calibri"/>
              <a:cs typeface="Calibri"/>
              <a:sym typeface="Calibri"/>
            </a:endParaRPr>
          </a:p>
        </p:txBody>
      </p:sp>
      <p:sp>
        <p:nvSpPr>
          <p:cNvPr id="145" name="Google Shape;145;p3"/>
          <p:cNvSpPr/>
          <p:nvPr/>
        </p:nvSpPr>
        <p:spPr>
          <a:xfrm>
            <a:off x="4846330" y="1560646"/>
            <a:ext cx="3749100" cy="2157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293B"/>
              </a:buClr>
              <a:buSzPts val="1100"/>
              <a:buFont typeface="Calibri"/>
              <a:buNone/>
            </a:pPr>
            <a:r>
              <a:rPr b="1" lang="en-US" sz="1100">
                <a:solidFill>
                  <a:srgbClr val="1E293B"/>
                </a:solidFill>
                <a:latin typeface="Calibri"/>
                <a:ea typeface="Calibri"/>
                <a:cs typeface="Calibri"/>
                <a:sym typeface="Calibri"/>
              </a:rPr>
              <a:t>Aquest tipus de producte es compren de forma més irregular, de manera que el marge de tolerància és del 30% al 50%, depenent de la confiança.</a:t>
            </a:r>
            <a:endParaRPr b="0" i="0" sz="1100" u="none" cap="none" strike="noStrike">
              <a:solidFill>
                <a:schemeClr val="dk1"/>
              </a:solidFill>
              <a:latin typeface="Calibri"/>
              <a:ea typeface="Calibri"/>
              <a:cs typeface="Calibri"/>
              <a:sym typeface="Calibri"/>
            </a:endParaRPr>
          </a:p>
        </p:txBody>
      </p:sp>
      <p:sp>
        <p:nvSpPr>
          <p:cNvPr id="146" name="Google Shape;146;p3"/>
          <p:cNvSpPr/>
          <p:nvPr/>
        </p:nvSpPr>
        <p:spPr>
          <a:xfrm>
            <a:off x="365760" y="4709160"/>
            <a:ext cx="8412480" cy="320040"/>
          </a:xfrm>
          <a:prstGeom prst="rect">
            <a:avLst/>
          </a:prstGeom>
          <a:solidFill>
            <a:srgbClr val="0C2D3F"/>
          </a:solidFill>
          <a:ln cap="flat" cmpd="sng" w="12700">
            <a:solidFill>
              <a:srgbClr val="0C2D3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3"/>
          <p:cNvSpPr/>
          <p:nvPr/>
        </p:nvSpPr>
        <p:spPr>
          <a:xfrm>
            <a:off x="365760" y="4709160"/>
            <a:ext cx="841248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9ED5"/>
              </a:buClr>
              <a:buSzPts val="1000"/>
              <a:buFont typeface="Calibri"/>
              <a:buNone/>
            </a:pPr>
            <a:r>
              <a:t/>
            </a:r>
            <a:endParaRPr b="0" i="0" sz="1000" u="none" cap="none" strike="noStrike">
              <a:solidFill>
                <a:schemeClr val="dk1"/>
              </a:solidFill>
              <a:latin typeface="Calibri"/>
              <a:ea typeface="Calibri"/>
              <a:cs typeface="Calibri"/>
              <a:sym typeface="Calibri"/>
            </a:endParaRPr>
          </a:p>
        </p:txBody>
      </p:sp>
      <p:sp>
        <p:nvSpPr>
          <p:cNvPr id="148" name="Google Shape;148;p3"/>
          <p:cNvSpPr/>
          <p:nvPr/>
        </p:nvSpPr>
        <p:spPr>
          <a:xfrm>
            <a:off x="1120050" y="3969816"/>
            <a:ext cx="6903900" cy="5916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1E293B"/>
              </a:buClr>
              <a:buSzPts val="1100"/>
              <a:buFont typeface="Calibri"/>
              <a:buNone/>
            </a:pPr>
            <a:r>
              <a:rPr b="1" lang="en-US" sz="1100">
                <a:solidFill>
                  <a:srgbClr val="1E293B"/>
                </a:solidFill>
                <a:latin typeface="Calibri"/>
                <a:ea typeface="Calibri"/>
                <a:cs typeface="Calibri"/>
                <a:sym typeface="Calibri"/>
              </a:rPr>
              <a:t>Vam començar pensant que necessitàvem ML complex. Però hem vist que el percentil 85 del propi historial del client és millor predictor que qualsevol model extern </a:t>
            </a:r>
            <a:endParaRPr b="0" i="0" sz="1100" u="none" cap="none" strike="noStrike">
              <a:solidFill>
                <a:srgbClr val="1E293B"/>
              </a:solidFill>
              <a:latin typeface="Calibri"/>
              <a:ea typeface="Calibri"/>
              <a:cs typeface="Calibri"/>
              <a:sym typeface="Calibri"/>
            </a:endParaRPr>
          </a:p>
          <a:p>
            <a:pPr indent="0" lvl="0" marL="0" marR="0" rtl="0" algn="ctr">
              <a:spcBef>
                <a:spcPts val="0"/>
              </a:spcBef>
              <a:spcAft>
                <a:spcPts val="0"/>
              </a:spcAft>
              <a:buClr>
                <a:srgbClr val="1E293B"/>
              </a:buClr>
              <a:buSzPts val="1100"/>
              <a:buFont typeface="Calibri"/>
              <a:buNone/>
            </a:pPr>
            <a:r>
              <a:t/>
            </a:r>
            <a:endParaRPr sz="1100">
              <a:solidFill>
                <a:srgbClr val="1E293B"/>
              </a:solidFill>
              <a:latin typeface="Calibri"/>
              <a:ea typeface="Calibri"/>
              <a:cs typeface="Calibri"/>
              <a:sym typeface="Calibri"/>
            </a:endParaRPr>
          </a:p>
          <a:p>
            <a:pPr indent="0" lvl="0" marL="0" marR="0" rtl="0" algn="ctr">
              <a:spcBef>
                <a:spcPts val="0"/>
              </a:spcBef>
              <a:spcAft>
                <a:spcPts val="0"/>
              </a:spcAft>
              <a:buClr>
                <a:srgbClr val="1E293B"/>
              </a:buClr>
              <a:buSzPts val="1100"/>
              <a:buFont typeface="Calibri"/>
              <a:buNone/>
            </a:pPr>
            <a:r>
              <a:t/>
            </a:r>
            <a:endParaRPr sz="1100">
              <a:solidFill>
                <a:srgbClr val="1E293B"/>
              </a:solidFill>
              <a:latin typeface="Calibri"/>
              <a:ea typeface="Calibri"/>
              <a:cs typeface="Calibri"/>
              <a:sym typeface="Calibri"/>
            </a:endParaRPr>
          </a:p>
        </p:txBody>
      </p:sp>
      <p:sp>
        <p:nvSpPr>
          <p:cNvPr id="149" name="Google Shape;149;p3"/>
          <p:cNvSpPr/>
          <p:nvPr/>
        </p:nvSpPr>
        <p:spPr>
          <a:xfrm>
            <a:off x="0" y="9575"/>
            <a:ext cx="9144000" cy="986700"/>
          </a:xfrm>
          <a:prstGeom prst="rect">
            <a:avLst/>
          </a:prstGeom>
          <a:solidFill>
            <a:srgbClr val="2D1B69">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3"/>
          <p:cNvSpPr/>
          <p:nvPr/>
        </p:nvSpPr>
        <p:spPr>
          <a:xfrm>
            <a:off x="457200" y="572228"/>
            <a:ext cx="8229600" cy="34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F0F8"/>
              </a:buClr>
              <a:buSzPts val="1100"/>
              <a:buFont typeface="Calibri"/>
              <a:buNone/>
            </a:pPr>
            <a:r>
              <a:rPr b="0" i="0" lang="en-US" sz="1100" u="none" cap="none" strike="noStrike">
                <a:solidFill>
                  <a:srgbClr val="FFFFFF"/>
                </a:solidFill>
                <a:latin typeface="Calibri"/>
                <a:ea typeface="Calibri"/>
                <a:cs typeface="Calibri"/>
                <a:sym typeface="Calibri"/>
              </a:rPr>
              <a:t>Dos </a:t>
            </a:r>
            <a:r>
              <a:rPr lang="en-US" sz="1100">
                <a:solidFill>
                  <a:srgbClr val="FFFFFF"/>
                </a:solidFill>
                <a:latin typeface="Calibri"/>
                <a:ea typeface="Calibri"/>
                <a:cs typeface="Calibri"/>
                <a:sym typeface="Calibri"/>
              </a:rPr>
              <a:t>perfils de producte, un sol algoritme.</a:t>
            </a:r>
            <a:endParaRPr b="0" i="0" sz="1100" u="none" cap="none" strike="noStrike">
              <a:solidFill>
                <a:srgbClr val="FFFFFF"/>
              </a:solidFill>
              <a:latin typeface="Calibri"/>
              <a:ea typeface="Calibri"/>
              <a:cs typeface="Calibri"/>
              <a:sym typeface="Calibri"/>
            </a:endParaRPr>
          </a:p>
        </p:txBody>
      </p:sp>
      <p:sp>
        <p:nvSpPr>
          <p:cNvPr id="151" name="Google Shape;151;p3"/>
          <p:cNvSpPr/>
          <p:nvPr/>
        </p:nvSpPr>
        <p:spPr>
          <a:xfrm>
            <a:off x="438950" y="235472"/>
            <a:ext cx="8229600" cy="534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La nostra solució</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6" name="Shape 156"/>
        <p:cNvGrpSpPr/>
        <p:nvPr/>
      </p:nvGrpSpPr>
      <p:grpSpPr>
        <a:xfrm>
          <a:off x="0" y="0"/>
          <a:ext cx="0" cy="0"/>
          <a:chOff x="0" y="0"/>
          <a:chExt cx="0" cy="0"/>
        </a:xfrm>
      </p:grpSpPr>
      <p:sp>
        <p:nvSpPr>
          <p:cNvPr id="157" name="Google Shape;157;p5"/>
          <p:cNvSpPr/>
          <p:nvPr/>
        </p:nvSpPr>
        <p:spPr>
          <a:xfrm>
            <a:off x="0" y="0"/>
            <a:ext cx="9144000" cy="960120"/>
          </a:xfrm>
          <a:prstGeom prst="rect">
            <a:avLst/>
          </a:prstGeom>
          <a:solidFill>
            <a:srgbClr val="156082"/>
          </a:solidFill>
          <a:ln cap="flat" cmpd="sng" w="12700">
            <a:solidFill>
              <a:srgbClr val="1560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5"/>
          <p:cNvSpPr/>
          <p:nvPr/>
        </p:nvSpPr>
        <p:spPr>
          <a:xfrm>
            <a:off x="457200" y="73152"/>
            <a:ext cx="7315200" cy="822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Demo: top 3 alertes generades</a:t>
            </a:r>
            <a:endParaRPr b="0" i="0" sz="2600" u="none" cap="none" strike="noStrike">
              <a:solidFill>
                <a:schemeClr val="dk1"/>
              </a:solidFill>
              <a:latin typeface="Calibri"/>
              <a:ea typeface="Calibri"/>
              <a:cs typeface="Calibri"/>
              <a:sym typeface="Calibri"/>
            </a:endParaRPr>
          </a:p>
        </p:txBody>
      </p:sp>
      <p:sp>
        <p:nvSpPr>
          <p:cNvPr id="159" name="Google Shape;159;p5"/>
          <p:cNvSpPr/>
          <p:nvPr/>
        </p:nvSpPr>
        <p:spPr>
          <a:xfrm>
            <a:off x="476442" y="566928"/>
            <a:ext cx="82296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F0F8"/>
              </a:buClr>
              <a:buSzPts val="1000"/>
              <a:buFont typeface="Calibri"/>
              <a:buNone/>
            </a:pPr>
            <a:r>
              <a:rPr b="0" i="0" lang="en-US" sz="1000" u="none" cap="none" strike="noStrike">
                <a:solidFill>
                  <a:srgbClr val="E0F0F8"/>
                </a:solidFill>
                <a:latin typeface="Calibri"/>
                <a:ea typeface="Calibri"/>
                <a:cs typeface="Calibri"/>
                <a:sym typeface="Calibri"/>
              </a:rPr>
              <a:t>Prova retroactiva · Data de tall: 2025-06-01 · Família C2 </a:t>
            </a:r>
            <a:endParaRPr b="0" i="0" sz="1000" u="none" cap="none" strike="noStrike">
              <a:solidFill>
                <a:schemeClr val="dk1"/>
              </a:solidFill>
              <a:latin typeface="Calibri"/>
              <a:ea typeface="Calibri"/>
              <a:cs typeface="Calibri"/>
              <a:sym typeface="Calibri"/>
            </a:endParaRPr>
          </a:p>
        </p:txBody>
      </p:sp>
      <p:sp>
        <p:nvSpPr>
          <p:cNvPr id="160" name="Google Shape;160;p5"/>
          <p:cNvSpPr/>
          <p:nvPr/>
        </p:nvSpPr>
        <p:spPr>
          <a:xfrm>
            <a:off x="182880" y="1051560"/>
            <a:ext cx="2788920" cy="3931920"/>
          </a:xfrm>
          <a:prstGeom prst="rect">
            <a:avLst/>
          </a:prstGeom>
          <a:solidFill>
            <a:srgbClr val="0F2A3D"/>
          </a:solidFill>
          <a:ln cap="flat" cmpd="sng" w="9525">
            <a:solidFill>
              <a:srgbClr val="0F9ED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5"/>
          <p:cNvSpPr/>
          <p:nvPr/>
        </p:nvSpPr>
        <p:spPr>
          <a:xfrm>
            <a:off x="182880" y="1051560"/>
            <a:ext cx="2788920" cy="384048"/>
          </a:xfrm>
          <a:prstGeom prst="rect">
            <a:avLst/>
          </a:prstGeom>
          <a:solidFill>
            <a:srgbClr val="156082"/>
          </a:solidFill>
          <a:ln cap="flat" cmpd="sng" w="12700">
            <a:solidFill>
              <a:srgbClr val="1560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5"/>
          <p:cNvSpPr/>
          <p:nvPr/>
        </p:nvSpPr>
        <p:spPr>
          <a:xfrm>
            <a:off x="182880" y="1051560"/>
            <a:ext cx="278892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  ·  Client 5789</a:t>
            </a:r>
            <a:endParaRPr b="0" i="0" sz="1100" u="none" cap="none" strike="noStrike">
              <a:solidFill>
                <a:schemeClr val="dk1"/>
              </a:solidFill>
              <a:latin typeface="Calibri"/>
              <a:ea typeface="Calibri"/>
              <a:cs typeface="Calibri"/>
              <a:sym typeface="Calibri"/>
            </a:endParaRPr>
          </a:p>
        </p:txBody>
      </p:sp>
      <p:pic>
        <p:nvPicPr>
          <p:cNvPr descr="/mnt/user-data/uploads/priority_01_client_5789.png" id="163" name="Google Shape;163;p5"/>
          <p:cNvPicPr preferRelativeResize="0"/>
          <p:nvPr/>
        </p:nvPicPr>
        <p:blipFill rotWithShape="1">
          <a:blip r:embed="rId3">
            <a:alphaModFix/>
          </a:blip>
          <a:srcRect b="0" l="0" r="0" t="0"/>
          <a:stretch/>
        </p:blipFill>
        <p:spPr>
          <a:xfrm>
            <a:off x="228600" y="1481328"/>
            <a:ext cx="2697480" cy="1645920"/>
          </a:xfrm>
          <a:prstGeom prst="rect">
            <a:avLst/>
          </a:prstGeom>
          <a:noFill/>
          <a:ln>
            <a:noFill/>
          </a:ln>
        </p:spPr>
      </p:pic>
      <p:sp>
        <p:nvSpPr>
          <p:cNvPr id="164" name="Google Shape;164;p5"/>
          <p:cNvSpPr/>
          <p:nvPr/>
        </p:nvSpPr>
        <p:spPr>
          <a:xfrm>
            <a:off x="246888" y="3218688"/>
            <a:ext cx="2651760" cy="384048"/>
          </a:xfrm>
          <a:prstGeom prst="rect">
            <a:avLst/>
          </a:prstGeom>
          <a:solidFill>
            <a:srgbClr val="132840"/>
          </a:solidFill>
          <a:ln cap="flat" cmpd="sng" w="9525">
            <a:solidFill>
              <a:srgbClr val="1E3A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5"/>
          <p:cNvSpPr/>
          <p:nvPr/>
        </p:nvSpPr>
        <p:spPr>
          <a:xfrm>
            <a:off x="320040" y="3218688"/>
            <a:ext cx="155448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FAACC"/>
              </a:buClr>
              <a:buSzPts val="900"/>
              <a:buFont typeface="Calibri"/>
              <a:buNone/>
            </a:pPr>
            <a:r>
              <a:rPr b="0" i="0" lang="en-US" sz="900" u="none" cap="none" strike="noStrike">
                <a:solidFill>
                  <a:srgbClr val="7FAACC"/>
                </a:solidFill>
                <a:latin typeface="Calibri"/>
                <a:ea typeface="Calibri"/>
                <a:cs typeface="Calibri"/>
                <a:sym typeface="Calibri"/>
              </a:rPr>
              <a:t>Priority Score</a:t>
            </a:r>
            <a:endParaRPr b="0" i="0" sz="900" u="none" cap="none" strike="noStrike">
              <a:solidFill>
                <a:schemeClr val="dk1"/>
              </a:solidFill>
              <a:latin typeface="Calibri"/>
              <a:ea typeface="Calibri"/>
              <a:cs typeface="Calibri"/>
              <a:sym typeface="Calibri"/>
            </a:endParaRPr>
          </a:p>
        </p:txBody>
      </p:sp>
      <p:sp>
        <p:nvSpPr>
          <p:cNvPr id="166" name="Google Shape;166;p5"/>
          <p:cNvSpPr/>
          <p:nvPr/>
        </p:nvSpPr>
        <p:spPr>
          <a:xfrm>
            <a:off x="1920240" y="3218688"/>
            <a:ext cx="914400" cy="38404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0F9ED5"/>
              </a:buClr>
              <a:buSzPts val="1000"/>
              <a:buFont typeface="Calibri"/>
              <a:buNone/>
            </a:pPr>
            <a:r>
              <a:rPr b="1" i="0" lang="en-US" sz="1000" u="none" cap="none" strike="noStrike">
                <a:solidFill>
                  <a:srgbClr val="0F9ED5"/>
                </a:solidFill>
                <a:latin typeface="Calibri"/>
                <a:ea typeface="Calibri"/>
                <a:cs typeface="Calibri"/>
                <a:sym typeface="Calibri"/>
              </a:rPr>
              <a:t>7169</a:t>
            </a:r>
            <a:endParaRPr b="0" i="0" sz="1000" u="none" cap="none" strike="noStrike">
              <a:solidFill>
                <a:schemeClr val="dk1"/>
              </a:solidFill>
              <a:latin typeface="Calibri"/>
              <a:ea typeface="Calibri"/>
              <a:cs typeface="Calibri"/>
              <a:sym typeface="Calibri"/>
            </a:endParaRPr>
          </a:p>
        </p:txBody>
      </p:sp>
      <p:sp>
        <p:nvSpPr>
          <p:cNvPr id="167" name="Google Shape;167;p5"/>
          <p:cNvSpPr/>
          <p:nvPr/>
        </p:nvSpPr>
        <p:spPr>
          <a:xfrm>
            <a:off x="246888" y="3648456"/>
            <a:ext cx="2651760" cy="384048"/>
          </a:xfrm>
          <a:prstGeom prst="rect">
            <a:avLst/>
          </a:prstGeom>
          <a:solidFill>
            <a:srgbClr val="132840"/>
          </a:solidFill>
          <a:ln cap="flat" cmpd="sng" w="9525">
            <a:solidFill>
              <a:srgbClr val="1E3A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5"/>
          <p:cNvSpPr/>
          <p:nvPr/>
        </p:nvSpPr>
        <p:spPr>
          <a:xfrm>
            <a:off x="320040" y="3648456"/>
            <a:ext cx="155448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FAACC"/>
              </a:buClr>
              <a:buSzPts val="900"/>
              <a:buFont typeface="Calibri"/>
              <a:buNone/>
            </a:pPr>
            <a:r>
              <a:rPr b="0" i="0" lang="en-US" sz="900" u="none" cap="none" strike="noStrike">
                <a:solidFill>
                  <a:srgbClr val="7FAACC"/>
                </a:solidFill>
                <a:latin typeface="Calibri"/>
                <a:ea typeface="Calibri"/>
                <a:cs typeface="Calibri"/>
                <a:sym typeface="Calibri"/>
              </a:rPr>
              <a:t>Dies </a:t>
            </a:r>
            <a:r>
              <a:rPr lang="en-US" sz="900">
                <a:solidFill>
                  <a:srgbClr val="7FAACC"/>
                </a:solidFill>
                <a:latin typeface="Calibri"/>
                <a:ea typeface="Calibri"/>
                <a:cs typeface="Calibri"/>
                <a:sym typeface="Calibri"/>
              </a:rPr>
              <a:t>vençut</a:t>
            </a:r>
            <a:endParaRPr b="0" i="0" sz="900" u="none" cap="none" strike="noStrike">
              <a:solidFill>
                <a:schemeClr val="dk1"/>
              </a:solidFill>
              <a:latin typeface="Calibri"/>
              <a:ea typeface="Calibri"/>
              <a:cs typeface="Calibri"/>
              <a:sym typeface="Calibri"/>
            </a:endParaRPr>
          </a:p>
        </p:txBody>
      </p:sp>
      <p:sp>
        <p:nvSpPr>
          <p:cNvPr id="169" name="Google Shape;169;p5"/>
          <p:cNvSpPr/>
          <p:nvPr/>
        </p:nvSpPr>
        <p:spPr>
          <a:xfrm>
            <a:off x="1920240" y="3648456"/>
            <a:ext cx="914400" cy="38404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0F9ED5"/>
              </a:buClr>
              <a:buSzPts val="1000"/>
              <a:buFont typeface="Calibri"/>
              <a:buNone/>
            </a:pPr>
            <a:r>
              <a:rPr b="1" lang="en-US" sz="1000">
                <a:solidFill>
                  <a:srgbClr val="0F9ED5"/>
                </a:solidFill>
                <a:latin typeface="Calibri"/>
                <a:ea typeface="Calibri"/>
                <a:cs typeface="Calibri"/>
                <a:sym typeface="Calibri"/>
              </a:rPr>
              <a:t>173 d</a:t>
            </a:r>
            <a:endParaRPr b="0" i="0" sz="1000" u="none" cap="none" strike="noStrike">
              <a:solidFill>
                <a:schemeClr val="dk1"/>
              </a:solidFill>
              <a:latin typeface="Calibri"/>
              <a:ea typeface="Calibri"/>
              <a:cs typeface="Calibri"/>
              <a:sym typeface="Calibri"/>
            </a:endParaRPr>
          </a:p>
        </p:txBody>
      </p:sp>
      <p:sp>
        <p:nvSpPr>
          <p:cNvPr id="170" name="Google Shape;170;p5"/>
          <p:cNvSpPr/>
          <p:nvPr/>
        </p:nvSpPr>
        <p:spPr>
          <a:xfrm>
            <a:off x="246888" y="4078224"/>
            <a:ext cx="2651760" cy="384048"/>
          </a:xfrm>
          <a:prstGeom prst="rect">
            <a:avLst/>
          </a:prstGeom>
          <a:solidFill>
            <a:srgbClr val="132840"/>
          </a:solidFill>
          <a:ln cap="flat" cmpd="sng" w="9525">
            <a:solidFill>
              <a:srgbClr val="1E3A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5"/>
          <p:cNvSpPr/>
          <p:nvPr/>
        </p:nvSpPr>
        <p:spPr>
          <a:xfrm>
            <a:off x="320040" y="4078224"/>
            <a:ext cx="155448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FAACC"/>
              </a:buClr>
              <a:buSzPts val="900"/>
              <a:buFont typeface="Calibri"/>
              <a:buNone/>
            </a:pPr>
            <a:r>
              <a:rPr b="0" i="0" lang="en-US" sz="900" u="none" cap="none" strike="noStrike">
                <a:solidFill>
                  <a:srgbClr val="7FAACC"/>
                </a:solidFill>
                <a:latin typeface="Calibri"/>
                <a:ea typeface="Calibri"/>
                <a:cs typeface="Calibri"/>
                <a:sym typeface="Calibri"/>
              </a:rPr>
              <a:t>Cicle base</a:t>
            </a:r>
            <a:endParaRPr b="0" i="0" sz="900" u="none" cap="none" strike="noStrike">
              <a:solidFill>
                <a:schemeClr val="dk1"/>
              </a:solidFill>
              <a:latin typeface="Calibri"/>
              <a:ea typeface="Calibri"/>
              <a:cs typeface="Calibri"/>
              <a:sym typeface="Calibri"/>
            </a:endParaRPr>
          </a:p>
        </p:txBody>
      </p:sp>
      <p:sp>
        <p:nvSpPr>
          <p:cNvPr id="172" name="Google Shape;172;p5"/>
          <p:cNvSpPr/>
          <p:nvPr/>
        </p:nvSpPr>
        <p:spPr>
          <a:xfrm>
            <a:off x="1920240" y="4078224"/>
            <a:ext cx="914400" cy="38404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0F9ED5"/>
              </a:buClr>
              <a:buSzPts val="1000"/>
              <a:buFont typeface="Calibri"/>
              <a:buNone/>
            </a:pPr>
            <a:r>
              <a:rPr b="1" lang="en-US" sz="1000">
                <a:solidFill>
                  <a:srgbClr val="0F9ED5"/>
                </a:solidFill>
                <a:latin typeface="Calibri"/>
                <a:ea typeface="Calibri"/>
                <a:cs typeface="Calibri"/>
                <a:sym typeface="Calibri"/>
              </a:rPr>
              <a:t>98 d</a:t>
            </a:r>
            <a:endParaRPr b="0" i="0" sz="1000" u="none" cap="none" strike="noStrike">
              <a:solidFill>
                <a:schemeClr val="dk1"/>
              </a:solidFill>
              <a:latin typeface="Calibri"/>
              <a:ea typeface="Calibri"/>
              <a:cs typeface="Calibri"/>
              <a:sym typeface="Calibri"/>
            </a:endParaRPr>
          </a:p>
        </p:txBody>
      </p:sp>
      <p:sp>
        <p:nvSpPr>
          <p:cNvPr id="173" name="Google Shape;173;p5"/>
          <p:cNvSpPr/>
          <p:nvPr/>
        </p:nvSpPr>
        <p:spPr>
          <a:xfrm>
            <a:off x="246888" y="4507992"/>
            <a:ext cx="2651760" cy="384048"/>
          </a:xfrm>
          <a:prstGeom prst="rect">
            <a:avLst/>
          </a:prstGeom>
          <a:solidFill>
            <a:srgbClr val="132840"/>
          </a:solidFill>
          <a:ln cap="flat" cmpd="sng" w="9525">
            <a:solidFill>
              <a:srgbClr val="1E3A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5"/>
          <p:cNvSpPr/>
          <p:nvPr/>
        </p:nvSpPr>
        <p:spPr>
          <a:xfrm>
            <a:off x="320040" y="4507992"/>
            <a:ext cx="155448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FAACC"/>
              </a:buClr>
              <a:buSzPts val="900"/>
              <a:buFont typeface="Calibri"/>
              <a:buNone/>
            </a:pPr>
            <a:r>
              <a:rPr b="0" i="0" lang="en-US" sz="900" u="none" cap="none" strike="noStrike">
                <a:solidFill>
                  <a:srgbClr val="7FAACC"/>
                </a:solidFill>
                <a:latin typeface="Calibri"/>
                <a:ea typeface="Calibri"/>
                <a:cs typeface="Calibri"/>
                <a:sym typeface="Calibri"/>
              </a:rPr>
              <a:t>Confiança</a:t>
            </a:r>
            <a:endParaRPr b="0" i="0" sz="900" u="none" cap="none" strike="noStrike">
              <a:solidFill>
                <a:schemeClr val="dk1"/>
              </a:solidFill>
              <a:latin typeface="Calibri"/>
              <a:ea typeface="Calibri"/>
              <a:cs typeface="Calibri"/>
              <a:sym typeface="Calibri"/>
            </a:endParaRPr>
          </a:p>
        </p:txBody>
      </p:sp>
      <p:sp>
        <p:nvSpPr>
          <p:cNvPr id="175" name="Google Shape;175;p5"/>
          <p:cNvSpPr/>
          <p:nvPr/>
        </p:nvSpPr>
        <p:spPr>
          <a:xfrm>
            <a:off x="1920240" y="4507992"/>
            <a:ext cx="914400" cy="38404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0F9ED5"/>
              </a:buClr>
              <a:buSzPts val="1000"/>
              <a:buFont typeface="Calibri"/>
              <a:buNone/>
            </a:pPr>
            <a:r>
              <a:rPr b="1" i="0" lang="en-US" sz="1000" u="none" cap="none" strike="noStrike">
                <a:solidFill>
                  <a:srgbClr val="0F9ED5"/>
                </a:solidFill>
                <a:latin typeface="Calibri"/>
                <a:ea typeface="Calibri"/>
                <a:cs typeface="Calibri"/>
                <a:sym typeface="Calibri"/>
              </a:rPr>
              <a:t>1.00</a:t>
            </a:r>
            <a:endParaRPr b="0" i="0" sz="1000" u="none" cap="none" strike="noStrike">
              <a:solidFill>
                <a:schemeClr val="dk1"/>
              </a:solidFill>
              <a:latin typeface="Calibri"/>
              <a:ea typeface="Calibri"/>
              <a:cs typeface="Calibri"/>
              <a:sym typeface="Calibri"/>
            </a:endParaRPr>
          </a:p>
        </p:txBody>
      </p:sp>
      <p:sp>
        <p:nvSpPr>
          <p:cNvPr id="176" name="Google Shape;176;p5"/>
          <p:cNvSpPr/>
          <p:nvPr/>
        </p:nvSpPr>
        <p:spPr>
          <a:xfrm>
            <a:off x="3172968" y="1051560"/>
            <a:ext cx="2788920" cy="3931920"/>
          </a:xfrm>
          <a:prstGeom prst="rect">
            <a:avLst/>
          </a:prstGeom>
          <a:solidFill>
            <a:srgbClr val="0F2A3D"/>
          </a:solidFill>
          <a:ln cap="flat" cmpd="sng" w="9525">
            <a:solidFill>
              <a:srgbClr val="0F9ED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5"/>
          <p:cNvSpPr/>
          <p:nvPr/>
        </p:nvSpPr>
        <p:spPr>
          <a:xfrm>
            <a:off x="3172968" y="1051560"/>
            <a:ext cx="2788920" cy="384048"/>
          </a:xfrm>
          <a:prstGeom prst="rect">
            <a:avLst/>
          </a:prstGeom>
          <a:solidFill>
            <a:srgbClr val="156082"/>
          </a:solidFill>
          <a:ln cap="flat" cmpd="sng" w="12700">
            <a:solidFill>
              <a:srgbClr val="1560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5"/>
          <p:cNvSpPr/>
          <p:nvPr/>
        </p:nvSpPr>
        <p:spPr>
          <a:xfrm>
            <a:off x="3172968" y="1051560"/>
            <a:ext cx="278892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#2  ·  Client 1000043173</a:t>
            </a:r>
            <a:endParaRPr b="0" i="0" sz="1100" u="none" cap="none" strike="noStrike">
              <a:solidFill>
                <a:schemeClr val="dk1"/>
              </a:solidFill>
              <a:latin typeface="Calibri"/>
              <a:ea typeface="Calibri"/>
              <a:cs typeface="Calibri"/>
              <a:sym typeface="Calibri"/>
            </a:endParaRPr>
          </a:p>
        </p:txBody>
      </p:sp>
      <p:pic>
        <p:nvPicPr>
          <p:cNvPr descr="/mnt/user-data/uploads/priority_02_client_1000043173.png" id="179" name="Google Shape;179;p5"/>
          <p:cNvPicPr preferRelativeResize="0"/>
          <p:nvPr/>
        </p:nvPicPr>
        <p:blipFill rotWithShape="1">
          <a:blip r:embed="rId4">
            <a:alphaModFix/>
          </a:blip>
          <a:srcRect b="0" l="0" r="0" t="0"/>
          <a:stretch/>
        </p:blipFill>
        <p:spPr>
          <a:xfrm>
            <a:off x="3218688" y="1481328"/>
            <a:ext cx="2697480" cy="1645920"/>
          </a:xfrm>
          <a:prstGeom prst="rect">
            <a:avLst/>
          </a:prstGeom>
          <a:noFill/>
          <a:ln>
            <a:noFill/>
          </a:ln>
        </p:spPr>
      </p:pic>
      <p:sp>
        <p:nvSpPr>
          <p:cNvPr id="180" name="Google Shape;180;p5"/>
          <p:cNvSpPr/>
          <p:nvPr/>
        </p:nvSpPr>
        <p:spPr>
          <a:xfrm>
            <a:off x="3236976" y="3218688"/>
            <a:ext cx="2651760" cy="384048"/>
          </a:xfrm>
          <a:prstGeom prst="rect">
            <a:avLst/>
          </a:prstGeom>
          <a:solidFill>
            <a:srgbClr val="132840"/>
          </a:solidFill>
          <a:ln cap="flat" cmpd="sng" w="9525">
            <a:solidFill>
              <a:srgbClr val="1E3A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5"/>
          <p:cNvSpPr/>
          <p:nvPr/>
        </p:nvSpPr>
        <p:spPr>
          <a:xfrm>
            <a:off x="3310128" y="3218688"/>
            <a:ext cx="155448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FAACC"/>
              </a:buClr>
              <a:buSzPts val="900"/>
              <a:buFont typeface="Calibri"/>
              <a:buNone/>
            </a:pPr>
            <a:r>
              <a:rPr b="0" i="0" lang="en-US" sz="900" u="none" cap="none" strike="noStrike">
                <a:solidFill>
                  <a:srgbClr val="7FAACC"/>
                </a:solidFill>
                <a:latin typeface="Calibri"/>
                <a:ea typeface="Calibri"/>
                <a:cs typeface="Calibri"/>
                <a:sym typeface="Calibri"/>
              </a:rPr>
              <a:t>Priority Score</a:t>
            </a:r>
            <a:endParaRPr b="0" i="0" sz="900" u="none" cap="none" strike="noStrike">
              <a:solidFill>
                <a:schemeClr val="dk1"/>
              </a:solidFill>
              <a:latin typeface="Calibri"/>
              <a:ea typeface="Calibri"/>
              <a:cs typeface="Calibri"/>
              <a:sym typeface="Calibri"/>
            </a:endParaRPr>
          </a:p>
        </p:txBody>
      </p:sp>
      <p:sp>
        <p:nvSpPr>
          <p:cNvPr id="182" name="Google Shape;182;p5"/>
          <p:cNvSpPr/>
          <p:nvPr/>
        </p:nvSpPr>
        <p:spPr>
          <a:xfrm>
            <a:off x="4910328" y="3218688"/>
            <a:ext cx="914400" cy="38404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0F9ED5"/>
              </a:buClr>
              <a:buSzPts val="1000"/>
              <a:buFont typeface="Calibri"/>
              <a:buNone/>
            </a:pPr>
            <a:r>
              <a:rPr b="1" i="0" lang="en-US" sz="1000" u="none" cap="none" strike="noStrike">
                <a:solidFill>
                  <a:srgbClr val="0F9ED5"/>
                </a:solidFill>
                <a:latin typeface="Calibri"/>
                <a:ea typeface="Calibri"/>
                <a:cs typeface="Calibri"/>
                <a:sym typeface="Calibri"/>
              </a:rPr>
              <a:t>6628</a:t>
            </a:r>
            <a:endParaRPr b="0" i="0" sz="1000" u="none" cap="none" strike="noStrike">
              <a:solidFill>
                <a:schemeClr val="dk1"/>
              </a:solidFill>
              <a:latin typeface="Calibri"/>
              <a:ea typeface="Calibri"/>
              <a:cs typeface="Calibri"/>
              <a:sym typeface="Calibri"/>
            </a:endParaRPr>
          </a:p>
        </p:txBody>
      </p:sp>
      <p:sp>
        <p:nvSpPr>
          <p:cNvPr id="183" name="Google Shape;183;p5"/>
          <p:cNvSpPr/>
          <p:nvPr/>
        </p:nvSpPr>
        <p:spPr>
          <a:xfrm>
            <a:off x="3236976" y="3648456"/>
            <a:ext cx="2651760" cy="384048"/>
          </a:xfrm>
          <a:prstGeom prst="rect">
            <a:avLst/>
          </a:prstGeom>
          <a:solidFill>
            <a:srgbClr val="132840"/>
          </a:solidFill>
          <a:ln cap="flat" cmpd="sng" w="9525">
            <a:solidFill>
              <a:srgbClr val="1E3A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5"/>
          <p:cNvSpPr/>
          <p:nvPr/>
        </p:nvSpPr>
        <p:spPr>
          <a:xfrm>
            <a:off x="3310128" y="3648456"/>
            <a:ext cx="155448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FAACC"/>
              </a:buClr>
              <a:buSzPts val="900"/>
              <a:buFont typeface="Calibri"/>
              <a:buNone/>
            </a:pPr>
            <a:r>
              <a:rPr b="0" i="0" lang="en-US" sz="900" u="none" cap="none" strike="noStrike">
                <a:solidFill>
                  <a:srgbClr val="7FAACC"/>
                </a:solidFill>
                <a:latin typeface="Calibri"/>
                <a:ea typeface="Calibri"/>
                <a:cs typeface="Calibri"/>
                <a:sym typeface="Calibri"/>
              </a:rPr>
              <a:t>Dies </a:t>
            </a:r>
            <a:r>
              <a:rPr lang="en-US" sz="900">
                <a:solidFill>
                  <a:srgbClr val="7FAACC"/>
                </a:solidFill>
                <a:latin typeface="Calibri"/>
                <a:ea typeface="Calibri"/>
                <a:cs typeface="Calibri"/>
                <a:sym typeface="Calibri"/>
              </a:rPr>
              <a:t>vençut</a:t>
            </a:r>
            <a:endParaRPr b="0" i="0" sz="900" u="none" cap="none" strike="noStrike">
              <a:solidFill>
                <a:schemeClr val="dk1"/>
              </a:solidFill>
              <a:latin typeface="Calibri"/>
              <a:ea typeface="Calibri"/>
              <a:cs typeface="Calibri"/>
              <a:sym typeface="Calibri"/>
            </a:endParaRPr>
          </a:p>
        </p:txBody>
      </p:sp>
      <p:sp>
        <p:nvSpPr>
          <p:cNvPr id="185" name="Google Shape;185;p5"/>
          <p:cNvSpPr/>
          <p:nvPr/>
        </p:nvSpPr>
        <p:spPr>
          <a:xfrm>
            <a:off x="4910328" y="3648456"/>
            <a:ext cx="914400" cy="38404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0F9ED5"/>
              </a:buClr>
              <a:buSzPts val="1000"/>
              <a:buFont typeface="Calibri"/>
              <a:buNone/>
            </a:pPr>
            <a:r>
              <a:rPr b="1" lang="en-US" sz="1000">
                <a:solidFill>
                  <a:srgbClr val="0F9ED5"/>
                </a:solidFill>
                <a:latin typeface="Calibri"/>
                <a:ea typeface="Calibri"/>
                <a:cs typeface="Calibri"/>
                <a:sym typeface="Calibri"/>
              </a:rPr>
              <a:t>411 d</a:t>
            </a:r>
            <a:endParaRPr b="0" i="0" sz="1000" u="none" cap="none" strike="noStrike">
              <a:solidFill>
                <a:schemeClr val="dk1"/>
              </a:solidFill>
              <a:latin typeface="Calibri"/>
              <a:ea typeface="Calibri"/>
              <a:cs typeface="Calibri"/>
              <a:sym typeface="Calibri"/>
            </a:endParaRPr>
          </a:p>
        </p:txBody>
      </p:sp>
      <p:sp>
        <p:nvSpPr>
          <p:cNvPr id="186" name="Google Shape;186;p5"/>
          <p:cNvSpPr/>
          <p:nvPr/>
        </p:nvSpPr>
        <p:spPr>
          <a:xfrm>
            <a:off x="3236976" y="4078224"/>
            <a:ext cx="2651760" cy="384048"/>
          </a:xfrm>
          <a:prstGeom prst="rect">
            <a:avLst/>
          </a:prstGeom>
          <a:solidFill>
            <a:srgbClr val="132840"/>
          </a:solidFill>
          <a:ln cap="flat" cmpd="sng" w="9525">
            <a:solidFill>
              <a:srgbClr val="1E3A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5"/>
          <p:cNvSpPr/>
          <p:nvPr/>
        </p:nvSpPr>
        <p:spPr>
          <a:xfrm>
            <a:off x="3310128" y="4078224"/>
            <a:ext cx="155448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FAACC"/>
              </a:buClr>
              <a:buSzPts val="900"/>
              <a:buFont typeface="Calibri"/>
              <a:buNone/>
            </a:pPr>
            <a:r>
              <a:rPr b="0" i="0" lang="en-US" sz="900" u="none" cap="none" strike="noStrike">
                <a:solidFill>
                  <a:srgbClr val="7FAACC"/>
                </a:solidFill>
                <a:latin typeface="Calibri"/>
                <a:ea typeface="Calibri"/>
                <a:cs typeface="Calibri"/>
                <a:sym typeface="Calibri"/>
              </a:rPr>
              <a:t>Cicle base</a:t>
            </a:r>
            <a:endParaRPr b="0" i="0" sz="900" u="none" cap="none" strike="noStrike">
              <a:solidFill>
                <a:schemeClr val="dk1"/>
              </a:solidFill>
              <a:latin typeface="Calibri"/>
              <a:ea typeface="Calibri"/>
              <a:cs typeface="Calibri"/>
              <a:sym typeface="Calibri"/>
            </a:endParaRPr>
          </a:p>
        </p:txBody>
      </p:sp>
      <p:sp>
        <p:nvSpPr>
          <p:cNvPr id="188" name="Google Shape;188;p5"/>
          <p:cNvSpPr/>
          <p:nvPr/>
        </p:nvSpPr>
        <p:spPr>
          <a:xfrm>
            <a:off x="4910328" y="4078224"/>
            <a:ext cx="914400" cy="38404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0F9ED5"/>
              </a:buClr>
              <a:buSzPts val="1000"/>
              <a:buFont typeface="Calibri"/>
              <a:buNone/>
            </a:pPr>
            <a:r>
              <a:rPr b="1" lang="en-US" sz="1000">
                <a:solidFill>
                  <a:srgbClr val="0F9ED5"/>
                </a:solidFill>
                <a:latin typeface="Calibri"/>
                <a:ea typeface="Calibri"/>
                <a:cs typeface="Calibri"/>
                <a:sym typeface="Calibri"/>
              </a:rPr>
              <a:t>126 d</a:t>
            </a:r>
            <a:endParaRPr b="0" i="0" sz="1000" u="none" cap="none" strike="noStrike">
              <a:solidFill>
                <a:schemeClr val="dk1"/>
              </a:solidFill>
              <a:latin typeface="Calibri"/>
              <a:ea typeface="Calibri"/>
              <a:cs typeface="Calibri"/>
              <a:sym typeface="Calibri"/>
            </a:endParaRPr>
          </a:p>
        </p:txBody>
      </p:sp>
      <p:sp>
        <p:nvSpPr>
          <p:cNvPr id="189" name="Google Shape;189;p5"/>
          <p:cNvSpPr/>
          <p:nvPr/>
        </p:nvSpPr>
        <p:spPr>
          <a:xfrm>
            <a:off x="3236976" y="4507992"/>
            <a:ext cx="2651760" cy="384048"/>
          </a:xfrm>
          <a:prstGeom prst="rect">
            <a:avLst/>
          </a:prstGeom>
          <a:solidFill>
            <a:srgbClr val="132840"/>
          </a:solidFill>
          <a:ln cap="flat" cmpd="sng" w="9525">
            <a:solidFill>
              <a:srgbClr val="1E3A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5"/>
          <p:cNvSpPr/>
          <p:nvPr/>
        </p:nvSpPr>
        <p:spPr>
          <a:xfrm>
            <a:off x="3310128" y="4507992"/>
            <a:ext cx="155448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FAACC"/>
              </a:buClr>
              <a:buSzPts val="900"/>
              <a:buFont typeface="Calibri"/>
              <a:buNone/>
            </a:pPr>
            <a:r>
              <a:rPr b="0" i="0" lang="en-US" sz="900" u="none" cap="none" strike="noStrike">
                <a:solidFill>
                  <a:srgbClr val="7FAACC"/>
                </a:solidFill>
                <a:latin typeface="Calibri"/>
                <a:ea typeface="Calibri"/>
                <a:cs typeface="Calibri"/>
                <a:sym typeface="Calibri"/>
              </a:rPr>
              <a:t>Confiança</a:t>
            </a:r>
            <a:endParaRPr b="0" i="0" sz="900" u="none" cap="none" strike="noStrike">
              <a:solidFill>
                <a:schemeClr val="dk1"/>
              </a:solidFill>
              <a:latin typeface="Calibri"/>
              <a:ea typeface="Calibri"/>
              <a:cs typeface="Calibri"/>
              <a:sym typeface="Calibri"/>
            </a:endParaRPr>
          </a:p>
        </p:txBody>
      </p:sp>
      <p:sp>
        <p:nvSpPr>
          <p:cNvPr id="191" name="Google Shape;191;p5"/>
          <p:cNvSpPr/>
          <p:nvPr/>
        </p:nvSpPr>
        <p:spPr>
          <a:xfrm>
            <a:off x="4910328" y="4507992"/>
            <a:ext cx="914400" cy="38404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0F9ED5"/>
              </a:buClr>
              <a:buSzPts val="1000"/>
              <a:buFont typeface="Calibri"/>
              <a:buNone/>
            </a:pPr>
            <a:r>
              <a:rPr b="1" i="0" lang="en-US" sz="1000" u="none" cap="none" strike="noStrike">
                <a:solidFill>
                  <a:srgbClr val="0F9ED5"/>
                </a:solidFill>
                <a:latin typeface="Calibri"/>
                <a:ea typeface="Calibri"/>
                <a:cs typeface="Calibri"/>
                <a:sym typeface="Calibri"/>
              </a:rPr>
              <a:t>1.00</a:t>
            </a:r>
            <a:endParaRPr b="0" i="0" sz="1000" u="none" cap="none" strike="noStrike">
              <a:solidFill>
                <a:schemeClr val="dk1"/>
              </a:solidFill>
              <a:latin typeface="Calibri"/>
              <a:ea typeface="Calibri"/>
              <a:cs typeface="Calibri"/>
              <a:sym typeface="Calibri"/>
            </a:endParaRPr>
          </a:p>
        </p:txBody>
      </p:sp>
      <p:sp>
        <p:nvSpPr>
          <p:cNvPr id="192" name="Google Shape;192;p5"/>
          <p:cNvSpPr/>
          <p:nvPr/>
        </p:nvSpPr>
        <p:spPr>
          <a:xfrm>
            <a:off x="6163056" y="1051560"/>
            <a:ext cx="2788920" cy="3931920"/>
          </a:xfrm>
          <a:prstGeom prst="rect">
            <a:avLst/>
          </a:prstGeom>
          <a:solidFill>
            <a:srgbClr val="0F2A3D"/>
          </a:solidFill>
          <a:ln cap="flat" cmpd="sng" w="9525">
            <a:solidFill>
              <a:srgbClr val="0F9ED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5"/>
          <p:cNvSpPr/>
          <p:nvPr/>
        </p:nvSpPr>
        <p:spPr>
          <a:xfrm>
            <a:off x="6163056" y="1051560"/>
            <a:ext cx="2788920" cy="384048"/>
          </a:xfrm>
          <a:prstGeom prst="rect">
            <a:avLst/>
          </a:prstGeom>
          <a:solidFill>
            <a:srgbClr val="156082"/>
          </a:solidFill>
          <a:ln cap="flat" cmpd="sng" w="12700">
            <a:solidFill>
              <a:srgbClr val="1560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5"/>
          <p:cNvSpPr/>
          <p:nvPr/>
        </p:nvSpPr>
        <p:spPr>
          <a:xfrm>
            <a:off x="6163056" y="1051560"/>
            <a:ext cx="278892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#3  ·  Client 10927</a:t>
            </a:r>
            <a:endParaRPr b="0" i="0" sz="1100" u="none" cap="none" strike="noStrike">
              <a:solidFill>
                <a:schemeClr val="dk1"/>
              </a:solidFill>
              <a:latin typeface="Calibri"/>
              <a:ea typeface="Calibri"/>
              <a:cs typeface="Calibri"/>
              <a:sym typeface="Calibri"/>
            </a:endParaRPr>
          </a:p>
        </p:txBody>
      </p:sp>
      <p:pic>
        <p:nvPicPr>
          <p:cNvPr descr="/mnt/user-data/uploads/priority_03_client_10927.png" id="195" name="Google Shape;195;p5"/>
          <p:cNvPicPr preferRelativeResize="0"/>
          <p:nvPr/>
        </p:nvPicPr>
        <p:blipFill rotWithShape="1">
          <a:blip r:embed="rId5">
            <a:alphaModFix/>
          </a:blip>
          <a:srcRect b="0" l="0" r="0" t="0"/>
          <a:stretch/>
        </p:blipFill>
        <p:spPr>
          <a:xfrm>
            <a:off x="6208776" y="1481328"/>
            <a:ext cx="2697480" cy="1645920"/>
          </a:xfrm>
          <a:prstGeom prst="rect">
            <a:avLst/>
          </a:prstGeom>
          <a:noFill/>
          <a:ln>
            <a:noFill/>
          </a:ln>
        </p:spPr>
      </p:pic>
      <p:sp>
        <p:nvSpPr>
          <p:cNvPr id="196" name="Google Shape;196;p5"/>
          <p:cNvSpPr/>
          <p:nvPr/>
        </p:nvSpPr>
        <p:spPr>
          <a:xfrm>
            <a:off x="6227064" y="3218688"/>
            <a:ext cx="2651760" cy="384048"/>
          </a:xfrm>
          <a:prstGeom prst="rect">
            <a:avLst/>
          </a:prstGeom>
          <a:solidFill>
            <a:srgbClr val="132840"/>
          </a:solidFill>
          <a:ln cap="flat" cmpd="sng" w="9525">
            <a:solidFill>
              <a:srgbClr val="1E3A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5"/>
          <p:cNvSpPr/>
          <p:nvPr/>
        </p:nvSpPr>
        <p:spPr>
          <a:xfrm>
            <a:off x="6300216" y="3218688"/>
            <a:ext cx="155448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FAACC"/>
              </a:buClr>
              <a:buSzPts val="900"/>
              <a:buFont typeface="Calibri"/>
              <a:buNone/>
            </a:pPr>
            <a:r>
              <a:rPr b="0" i="0" lang="en-US" sz="900" u="none" cap="none" strike="noStrike">
                <a:solidFill>
                  <a:srgbClr val="7FAACC"/>
                </a:solidFill>
                <a:latin typeface="Calibri"/>
                <a:ea typeface="Calibri"/>
                <a:cs typeface="Calibri"/>
                <a:sym typeface="Calibri"/>
              </a:rPr>
              <a:t>Priority Score</a:t>
            </a:r>
            <a:endParaRPr b="0" i="0" sz="900" u="none" cap="none" strike="noStrike">
              <a:solidFill>
                <a:schemeClr val="dk1"/>
              </a:solidFill>
              <a:latin typeface="Calibri"/>
              <a:ea typeface="Calibri"/>
              <a:cs typeface="Calibri"/>
              <a:sym typeface="Calibri"/>
            </a:endParaRPr>
          </a:p>
        </p:txBody>
      </p:sp>
      <p:sp>
        <p:nvSpPr>
          <p:cNvPr id="198" name="Google Shape;198;p5"/>
          <p:cNvSpPr/>
          <p:nvPr/>
        </p:nvSpPr>
        <p:spPr>
          <a:xfrm>
            <a:off x="7900416" y="3218688"/>
            <a:ext cx="914400" cy="38404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0F9ED5"/>
              </a:buClr>
              <a:buSzPts val="1000"/>
              <a:buFont typeface="Calibri"/>
              <a:buNone/>
            </a:pPr>
            <a:r>
              <a:rPr b="1" i="0" lang="en-US" sz="1000" u="none" cap="none" strike="noStrike">
                <a:solidFill>
                  <a:srgbClr val="0F9ED5"/>
                </a:solidFill>
                <a:latin typeface="Calibri"/>
                <a:ea typeface="Calibri"/>
                <a:cs typeface="Calibri"/>
                <a:sym typeface="Calibri"/>
              </a:rPr>
              <a:t>5509</a:t>
            </a:r>
            <a:endParaRPr b="0" i="0" sz="1000" u="none" cap="none" strike="noStrike">
              <a:solidFill>
                <a:schemeClr val="dk1"/>
              </a:solidFill>
              <a:latin typeface="Calibri"/>
              <a:ea typeface="Calibri"/>
              <a:cs typeface="Calibri"/>
              <a:sym typeface="Calibri"/>
            </a:endParaRPr>
          </a:p>
        </p:txBody>
      </p:sp>
      <p:sp>
        <p:nvSpPr>
          <p:cNvPr id="199" name="Google Shape;199;p5"/>
          <p:cNvSpPr/>
          <p:nvPr/>
        </p:nvSpPr>
        <p:spPr>
          <a:xfrm>
            <a:off x="6227064" y="3648456"/>
            <a:ext cx="2651760" cy="384048"/>
          </a:xfrm>
          <a:prstGeom prst="rect">
            <a:avLst/>
          </a:prstGeom>
          <a:solidFill>
            <a:srgbClr val="132840"/>
          </a:solidFill>
          <a:ln cap="flat" cmpd="sng" w="9525">
            <a:solidFill>
              <a:srgbClr val="1E3A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5"/>
          <p:cNvSpPr/>
          <p:nvPr/>
        </p:nvSpPr>
        <p:spPr>
          <a:xfrm>
            <a:off x="6300216" y="3648456"/>
            <a:ext cx="155448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FAACC"/>
              </a:buClr>
              <a:buSzPts val="900"/>
              <a:buFont typeface="Calibri"/>
              <a:buNone/>
            </a:pPr>
            <a:r>
              <a:rPr b="0" i="0" lang="en-US" sz="900" u="none" cap="none" strike="noStrike">
                <a:solidFill>
                  <a:srgbClr val="7FAACC"/>
                </a:solidFill>
                <a:latin typeface="Calibri"/>
                <a:ea typeface="Calibri"/>
                <a:cs typeface="Calibri"/>
                <a:sym typeface="Calibri"/>
              </a:rPr>
              <a:t>Dies </a:t>
            </a:r>
            <a:r>
              <a:rPr lang="en-US" sz="900">
                <a:solidFill>
                  <a:srgbClr val="7FAACC"/>
                </a:solidFill>
                <a:latin typeface="Calibri"/>
                <a:ea typeface="Calibri"/>
                <a:cs typeface="Calibri"/>
                <a:sym typeface="Calibri"/>
              </a:rPr>
              <a:t>vençut</a:t>
            </a:r>
            <a:endParaRPr b="0" i="0" sz="900" u="none" cap="none" strike="noStrike">
              <a:solidFill>
                <a:schemeClr val="dk1"/>
              </a:solidFill>
              <a:latin typeface="Calibri"/>
              <a:ea typeface="Calibri"/>
              <a:cs typeface="Calibri"/>
              <a:sym typeface="Calibri"/>
            </a:endParaRPr>
          </a:p>
        </p:txBody>
      </p:sp>
      <p:sp>
        <p:nvSpPr>
          <p:cNvPr id="201" name="Google Shape;201;p5"/>
          <p:cNvSpPr/>
          <p:nvPr/>
        </p:nvSpPr>
        <p:spPr>
          <a:xfrm>
            <a:off x="7900416" y="3648456"/>
            <a:ext cx="914400" cy="38404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0F9ED5"/>
              </a:buClr>
              <a:buSzPts val="1000"/>
              <a:buFont typeface="Calibri"/>
              <a:buNone/>
            </a:pPr>
            <a:r>
              <a:rPr b="1" lang="en-US" sz="1000">
                <a:solidFill>
                  <a:srgbClr val="0F9ED5"/>
                </a:solidFill>
                <a:latin typeface="Calibri"/>
                <a:ea typeface="Calibri"/>
                <a:cs typeface="Calibri"/>
                <a:sym typeface="Calibri"/>
              </a:rPr>
              <a:t>339 d</a:t>
            </a:r>
            <a:endParaRPr b="0" i="0" sz="1000" u="none" cap="none" strike="noStrike">
              <a:solidFill>
                <a:schemeClr val="dk1"/>
              </a:solidFill>
              <a:latin typeface="Calibri"/>
              <a:ea typeface="Calibri"/>
              <a:cs typeface="Calibri"/>
              <a:sym typeface="Calibri"/>
            </a:endParaRPr>
          </a:p>
        </p:txBody>
      </p:sp>
      <p:sp>
        <p:nvSpPr>
          <p:cNvPr id="202" name="Google Shape;202;p5"/>
          <p:cNvSpPr/>
          <p:nvPr/>
        </p:nvSpPr>
        <p:spPr>
          <a:xfrm>
            <a:off x="6227064" y="4078224"/>
            <a:ext cx="2651760" cy="384048"/>
          </a:xfrm>
          <a:prstGeom prst="rect">
            <a:avLst/>
          </a:prstGeom>
          <a:solidFill>
            <a:srgbClr val="132840"/>
          </a:solidFill>
          <a:ln cap="flat" cmpd="sng" w="9525">
            <a:solidFill>
              <a:srgbClr val="1E3A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5"/>
          <p:cNvSpPr/>
          <p:nvPr/>
        </p:nvSpPr>
        <p:spPr>
          <a:xfrm>
            <a:off x="6300216" y="4078224"/>
            <a:ext cx="155448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FAACC"/>
              </a:buClr>
              <a:buSzPts val="900"/>
              <a:buFont typeface="Calibri"/>
              <a:buNone/>
            </a:pPr>
            <a:r>
              <a:rPr b="0" i="0" lang="en-US" sz="900" u="none" cap="none" strike="noStrike">
                <a:solidFill>
                  <a:srgbClr val="7FAACC"/>
                </a:solidFill>
                <a:latin typeface="Calibri"/>
                <a:ea typeface="Calibri"/>
                <a:cs typeface="Calibri"/>
                <a:sym typeface="Calibri"/>
              </a:rPr>
              <a:t>Cicle base</a:t>
            </a:r>
            <a:endParaRPr b="0" i="0" sz="900" u="none" cap="none" strike="noStrike">
              <a:solidFill>
                <a:schemeClr val="dk1"/>
              </a:solidFill>
              <a:latin typeface="Calibri"/>
              <a:ea typeface="Calibri"/>
              <a:cs typeface="Calibri"/>
              <a:sym typeface="Calibri"/>
            </a:endParaRPr>
          </a:p>
        </p:txBody>
      </p:sp>
      <p:sp>
        <p:nvSpPr>
          <p:cNvPr id="204" name="Google Shape;204;p5"/>
          <p:cNvSpPr/>
          <p:nvPr/>
        </p:nvSpPr>
        <p:spPr>
          <a:xfrm>
            <a:off x="7900416" y="4078224"/>
            <a:ext cx="914400" cy="38404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0F9ED5"/>
              </a:buClr>
              <a:buSzPts val="1000"/>
              <a:buFont typeface="Calibri"/>
              <a:buNone/>
            </a:pPr>
            <a:r>
              <a:rPr b="1" lang="en-US" sz="1000">
                <a:solidFill>
                  <a:srgbClr val="0F9ED5"/>
                </a:solidFill>
                <a:latin typeface="Calibri"/>
                <a:ea typeface="Calibri"/>
                <a:cs typeface="Calibri"/>
                <a:sym typeface="Calibri"/>
              </a:rPr>
              <a:t>132 d</a:t>
            </a:r>
            <a:endParaRPr b="0" i="0" sz="1000" u="none" cap="none" strike="noStrike">
              <a:solidFill>
                <a:schemeClr val="dk1"/>
              </a:solidFill>
              <a:latin typeface="Calibri"/>
              <a:ea typeface="Calibri"/>
              <a:cs typeface="Calibri"/>
              <a:sym typeface="Calibri"/>
            </a:endParaRPr>
          </a:p>
        </p:txBody>
      </p:sp>
      <p:sp>
        <p:nvSpPr>
          <p:cNvPr id="205" name="Google Shape;205;p5"/>
          <p:cNvSpPr/>
          <p:nvPr/>
        </p:nvSpPr>
        <p:spPr>
          <a:xfrm>
            <a:off x="6227064" y="4507992"/>
            <a:ext cx="2651760" cy="384048"/>
          </a:xfrm>
          <a:prstGeom prst="rect">
            <a:avLst/>
          </a:prstGeom>
          <a:solidFill>
            <a:srgbClr val="132840"/>
          </a:solidFill>
          <a:ln cap="flat" cmpd="sng" w="9525">
            <a:solidFill>
              <a:srgbClr val="1E3A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5"/>
          <p:cNvSpPr/>
          <p:nvPr/>
        </p:nvSpPr>
        <p:spPr>
          <a:xfrm>
            <a:off x="6300216" y="4507992"/>
            <a:ext cx="155448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FAACC"/>
              </a:buClr>
              <a:buSzPts val="900"/>
              <a:buFont typeface="Calibri"/>
              <a:buNone/>
            </a:pPr>
            <a:r>
              <a:rPr b="0" i="0" lang="en-US" sz="900" u="none" cap="none" strike="noStrike">
                <a:solidFill>
                  <a:srgbClr val="7FAACC"/>
                </a:solidFill>
                <a:latin typeface="Calibri"/>
                <a:ea typeface="Calibri"/>
                <a:cs typeface="Calibri"/>
                <a:sym typeface="Calibri"/>
              </a:rPr>
              <a:t>Confiança</a:t>
            </a:r>
            <a:endParaRPr b="0" i="0" sz="900" u="none" cap="none" strike="noStrike">
              <a:solidFill>
                <a:schemeClr val="dk1"/>
              </a:solidFill>
              <a:latin typeface="Calibri"/>
              <a:ea typeface="Calibri"/>
              <a:cs typeface="Calibri"/>
              <a:sym typeface="Calibri"/>
            </a:endParaRPr>
          </a:p>
        </p:txBody>
      </p:sp>
      <p:sp>
        <p:nvSpPr>
          <p:cNvPr id="207" name="Google Shape;207;p5"/>
          <p:cNvSpPr/>
          <p:nvPr/>
        </p:nvSpPr>
        <p:spPr>
          <a:xfrm>
            <a:off x="7900416" y="4507992"/>
            <a:ext cx="914400" cy="384048"/>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0F9ED5"/>
              </a:buClr>
              <a:buSzPts val="1000"/>
              <a:buFont typeface="Calibri"/>
              <a:buNone/>
            </a:pPr>
            <a:r>
              <a:rPr b="1" i="0" lang="en-US" sz="1000" u="none" cap="none" strike="noStrike">
                <a:solidFill>
                  <a:srgbClr val="0F9ED5"/>
                </a:solidFill>
                <a:latin typeface="Calibri"/>
                <a:ea typeface="Calibri"/>
                <a:cs typeface="Calibri"/>
                <a:sym typeface="Calibri"/>
              </a:rPr>
              <a:t>1.00</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2026-05-09T21:49:59Z</dcterms:created>
  <dc:creator>Equip Inibsa</dc:creator>
</cp:coreProperties>
</file>