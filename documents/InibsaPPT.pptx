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0693400" cy="7556500"/>
  <p:notesSz cx="6858000" cy="9144000"/>
  <p:embeddedFontLst>
    <p:embeddedFont>
      <p:font typeface="Aptos" charset="1" panose="020B0004020202020204"/>
      <p:regular r:id="rId22"/>
    </p:embeddedFont>
    <p:embeddedFont>
      <p:font typeface="Aptos Bold" charset="1" panose="020B0004020202020204"/>
      <p:regular r:id="rId23"/>
    </p:embeddedFont>
    <p:embeddedFont>
      <p:font typeface="Noto Sans" charset="1" panose="020B0502040504020204"/>
      <p:regular r:id="rId24"/>
    </p:embeddedFont>
    <p:embeddedFont>
      <p:font typeface="Noto Sans Bold" charset="1" panose="020B0802040504020204"/>
      <p:regular r:id="rId25"/>
    </p:embeddedFont>
    <p:embeddedFont>
      <p:font typeface="Arimo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66429" y="1077001"/>
            <a:ext cx="128304" cy="617463"/>
            <a:chOff x="0" y="0"/>
            <a:chExt cx="292608" cy="1408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408176"/>
            </a:xfrm>
            <a:custGeom>
              <a:avLst/>
              <a:gdLst/>
              <a:ahLst/>
              <a:cxnLst/>
              <a:rect r="r" b="b" t="t" l="l"/>
              <a:pathLst>
                <a:path h="1408176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408176"/>
                  </a:lnTo>
                  <a:lnTo>
                    <a:pt x="0" y="1408176"/>
                  </a:lnTo>
                  <a:close/>
                </a:path>
              </a:pathLst>
            </a:custGeom>
            <a:solidFill>
              <a:srgbClr val="E971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72875"/>
            <a:ext cx="1612153" cy="1127672"/>
            <a:chOff x="0" y="0"/>
            <a:chExt cx="3676650" cy="2571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76650" cy="2571750"/>
            </a:xfrm>
            <a:custGeom>
              <a:avLst/>
              <a:gdLst/>
              <a:ahLst/>
              <a:cxnLst/>
              <a:rect r="r" b="b" t="t" l="l"/>
              <a:pathLst>
                <a:path h="2571750" w="3676650">
                  <a:moveTo>
                    <a:pt x="0" y="0"/>
                  </a:moveTo>
                  <a:lnTo>
                    <a:pt x="3676650" y="0"/>
                  </a:lnTo>
                  <a:lnTo>
                    <a:pt x="3676650" y="2571750"/>
                  </a:lnTo>
                  <a:lnTo>
                    <a:pt x="0" y="257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789750"/>
            <a:ext cx="10692000" cy="6014250"/>
          </a:xfrm>
          <a:custGeom>
            <a:avLst/>
            <a:gdLst/>
            <a:ahLst/>
            <a:cxnLst/>
            <a:rect r="r" b="b" t="t" l="l"/>
            <a:pathLst>
              <a:path h="6014250" w="10692000">
                <a:moveTo>
                  <a:pt x="0" y="0"/>
                </a:moveTo>
                <a:lnTo>
                  <a:pt x="10692000" y="0"/>
                </a:lnTo>
                <a:lnTo>
                  <a:pt x="10692000" y="6014250"/>
                </a:lnTo>
                <a:lnTo>
                  <a:pt x="0" y="6014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56000"/>
            <a:ext cx="10692000" cy="6000885"/>
          </a:xfrm>
          <a:custGeom>
            <a:avLst/>
            <a:gdLst/>
            <a:ahLst/>
            <a:cxnLst/>
            <a:rect r="r" b="b" t="t" l="l"/>
            <a:pathLst>
              <a:path h="6000885" w="10692000">
                <a:moveTo>
                  <a:pt x="0" y="0"/>
                </a:moveTo>
                <a:lnTo>
                  <a:pt x="10692000" y="0"/>
                </a:lnTo>
                <a:lnTo>
                  <a:pt x="10692000" y="6000885"/>
                </a:lnTo>
                <a:lnTo>
                  <a:pt x="0" y="600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236597" y="2009472"/>
            <a:ext cx="6014250" cy="3541057"/>
            <a:chOff x="0" y="0"/>
            <a:chExt cx="13716000" cy="80756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8075676"/>
            </a:xfrm>
            <a:custGeom>
              <a:avLst/>
              <a:gdLst/>
              <a:ahLst/>
              <a:cxnLst/>
              <a:rect r="r" b="b" t="t" l="l"/>
              <a:pathLst>
                <a:path h="8075676" w="13716000">
                  <a:moveTo>
                    <a:pt x="13716000" y="0"/>
                  </a:moveTo>
                  <a:lnTo>
                    <a:pt x="0" y="0"/>
                  </a:lnTo>
                  <a:lnTo>
                    <a:pt x="0" y="8075676"/>
                  </a:lnTo>
                  <a:lnTo>
                    <a:pt x="13716000" y="8075676"/>
                  </a:lnTo>
                  <a:close/>
                </a:path>
              </a:pathLst>
            </a:custGeom>
            <a:gradFill rotWithShape="true">
              <a:gsLst>
                <a:gs pos="8000">
                  <a:srgbClr val="000000">
                    <a:alpha val="100000"/>
                  </a:srgbClr>
                </a:gs>
                <a:gs pos="100000">
                  <a:srgbClr val="104862">
                    <a:alpha val="100000"/>
                  </a:srgbClr>
                </a:gs>
              </a:gsLst>
              <a:lin ang="192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-1236602" y="2018365"/>
            <a:ext cx="6014250" cy="3541057"/>
            <a:chOff x="0" y="0"/>
            <a:chExt cx="13716000" cy="80756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8075676"/>
            </a:xfrm>
            <a:custGeom>
              <a:avLst/>
              <a:gdLst/>
              <a:ahLst/>
              <a:cxnLst/>
              <a:rect r="r" b="b" t="t" l="l"/>
              <a:pathLst>
                <a:path h="8075676" w="13716000">
                  <a:moveTo>
                    <a:pt x="13716000" y="0"/>
                  </a:moveTo>
                  <a:lnTo>
                    <a:pt x="0" y="0"/>
                  </a:lnTo>
                  <a:lnTo>
                    <a:pt x="0" y="8075676"/>
                  </a:lnTo>
                  <a:lnTo>
                    <a:pt x="13716000" y="807567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99000">
                  <a:srgbClr val="156082">
                    <a:alpha val="46000"/>
                  </a:srgbClr>
                </a:gs>
              </a:gsLst>
              <a:lin ang="180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673446" y="3919514"/>
            <a:ext cx="2194154" cy="3541057"/>
            <a:chOff x="0" y="0"/>
            <a:chExt cx="5003952" cy="80756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03927" cy="8075676"/>
            </a:xfrm>
            <a:custGeom>
              <a:avLst/>
              <a:gdLst/>
              <a:ahLst/>
              <a:cxnLst/>
              <a:rect r="r" b="b" t="t" l="l"/>
              <a:pathLst>
                <a:path h="8075676" w="5003927">
                  <a:moveTo>
                    <a:pt x="5003927" y="0"/>
                  </a:moveTo>
                  <a:lnTo>
                    <a:pt x="0" y="0"/>
                  </a:lnTo>
                  <a:lnTo>
                    <a:pt x="0" y="8075676"/>
                  </a:lnTo>
                  <a:lnTo>
                    <a:pt x="5003927" y="8075676"/>
                  </a:lnTo>
                  <a:close/>
                </a:path>
              </a:pathLst>
            </a:custGeom>
            <a:gradFill rotWithShape="true">
              <a:gsLst>
                <a:gs pos="2000">
                  <a:srgbClr val="156082">
                    <a:alpha val="29000"/>
                  </a:srgbClr>
                </a:gs>
                <a:gs pos="100000">
                  <a:srgbClr val="000000">
                    <a:alpha val="30000"/>
                  </a:srgbClr>
                </a:gs>
              </a:gsLst>
              <a:lin ang="2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-964560">
            <a:off x="-440009" y="1623284"/>
            <a:ext cx="3420488" cy="3664817"/>
            <a:chOff x="0" y="0"/>
            <a:chExt cx="7800708" cy="83579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0721" cy="8357870"/>
            </a:xfrm>
            <a:custGeom>
              <a:avLst/>
              <a:gdLst/>
              <a:ahLst/>
              <a:cxnLst/>
              <a:rect r="r" b="b" t="t" l="l"/>
              <a:pathLst>
                <a:path h="8357870" w="7800721">
                  <a:moveTo>
                    <a:pt x="4864481" y="187833"/>
                  </a:moveTo>
                  <a:cubicBezTo>
                    <a:pt x="6565646" y="716915"/>
                    <a:pt x="7800721" y="2303653"/>
                    <a:pt x="7800721" y="4178935"/>
                  </a:cubicBezTo>
                  <a:cubicBezTo>
                    <a:pt x="7800721" y="6486906"/>
                    <a:pt x="5929757" y="8357870"/>
                    <a:pt x="3621786" y="8357870"/>
                  </a:cubicBezTo>
                  <a:cubicBezTo>
                    <a:pt x="2179320" y="8357870"/>
                    <a:pt x="907542" y="7626985"/>
                    <a:pt x="156591" y="6515354"/>
                  </a:cubicBezTo>
                  <a:lnTo>
                    <a:pt x="0" y="6257798"/>
                  </a:lnTo>
                  <a:lnTo>
                    <a:pt x="1662684" y="488569"/>
                  </a:lnTo>
                  <a:lnTo>
                    <a:pt x="1995170" y="328422"/>
                  </a:lnTo>
                  <a:cubicBezTo>
                    <a:pt x="2495042" y="116967"/>
                    <a:pt x="3044825" y="0"/>
                    <a:pt x="3621786" y="0"/>
                  </a:cubicBezTo>
                  <a:cubicBezTo>
                    <a:pt x="4054475" y="0"/>
                    <a:pt x="4471924" y="65786"/>
                    <a:pt x="4864481" y="187833"/>
                  </a:cubicBezTo>
                  <a:close/>
                </a:path>
              </a:pathLst>
            </a:custGeom>
            <a:gradFill rotWithShape="true">
              <a:gsLst>
                <a:gs pos="29000">
                  <a:srgbClr val="000000">
                    <a:alpha val="0"/>
                  </a:srgbClr>
                </a:gs>
                <a:gs pos="100000">
                  <a:srgbClr val="156082">
                    <a:alpha val="43000"/>
                  </a:srgbClr>
                </a:gs>
              </a:gsLst>
              <a:lin ang="2764587"/>
            </a:gra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-1236608" y="2000578"/>
            <a:ext cx="6014250" cy="3541057"/>
            <a:chOff x="0" y="0"/>
            <a:chExt cx="13716000" cy="80756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8075676"/>
            </a:xfrm>
            <a:custGeom>
              <a:avLst/>
              <a:gdLst/>
              <a:ahLst/>
              <a:cxnLst/>
              <a:rect r="r" b="b" t="t" l="l"/>
              <a:pathLst>
                <a:path h="8075676" w="13716000">
                  <a:moveTo>
                    <a:pt x="13716000" y="0"/>
                  </a:moveTo>
                  <a:lnTo>
                    <a:pt x="0" y="0"/>
                  </a:lnTo>
                  <a:lnTo>
                    <a:pt x="0" y="8075676"/>
                  </a:lnTo>
                  <a:lnTo>
                    <a:pt x="13716000" y="807567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99000">
                  <a:srgbClr val="46B1E1">
                    <a:alpha val="11000"/>
                  </a:srgbClr>
                </a:gs>
              </a:gsLst>
              <a:lin ang="180000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9303" y="1287528"/>
            <a:ext cx="2807496" cy="2970728"/>
            <a:chOff x="0" y="0"/>
            <a:chExt cx="6402730" cy="67749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2732" cy="6774994"/>
            </a:xfrm>
            <a:custGeom>
              <a:avLst/>
              <a:gdLst/>
              <a:ahLst/>
              <a:cxnLst/>
              <a:rect r="r" b="b" t="t" l="l"/>
              <a:pathLst>
                <a:path h="6774994" w="6402732">
                  <a:moveTo>
                    <a:pt x="0" y="0"/>
                  </a:moveTo>
                  <a:lnTo>
                    <a:pt x="6402732" y="0"/>
                  </a:lnTo>
                  <a:lnTo>
                    <a:pt x="6402732" y="6774994"/>
                  </a:lnTo>
                  <a:lnTo>
                    <a:pt x="0" y="67749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763" t="0" r="-8576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6402730" cy="673689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788"/>
                </a:lnSpc>
              </a:pPr>
              <a:r>
                <a:rPr lang="en-US" sz="3507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Qué problema queremos resolver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01575" y="1558069"/>
            <a:ext cx="5748832" cy="2999925"/>
            <a:chOff x="0" y="0"/>
            <a:chExt cx="13110693" cy="68415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10694" cy="6841582"/>
            </a:xfrm>
            <a:custGeom>
              <a:avLst/>
              <a:gdLst/>
              <a:ahLst/>
              <a:cxnLst/>
              <a:rect r="r" b="b" t="t" l="l"/>
              <a:pathLst>
                <a:path h="6841582" w="13110694">
                  <a:moveTo>
                    <a:pt x="0" y="0"/>
                  </a:moveTo>
                  <a:lnTo>
                    <a:pt x="13110694" y="0"/>
                  </a:lnTo>
                  <a:lnTo>
                    <a:pt x="13110694" y="6841582"/>
                  </a:lnTo>
                  <a:lnTo>
                    <a:pt x="0" y="68415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52" t="0" r="-1695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110693" cy="6841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94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Buscamos una solución capaz de </a:t>
              </a:r>
              <a:r>
                <a:rPr lang="en-US" sz="1946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transformar patrones de compra en señales comerciales accionables</a:t>
              </a:r>
              <a:r>
                <a:rPr lang="en-US" sz="194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 </a:t>
              </a:r>
            </a:p>
            <a:p>
              <a:pPr algn="l">
                <a:lnSpc>
                  <a:spcPts val="2336"/>
                </a:lnSpc>
              </a:pPr>
              <a:r>
                <a:rPr lang="en-US" sz="194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La salida esperada es una </a:t>
              </a:r>
              <a:r>
                <a:rPr lang="en-US" sz="1946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alerta útil para actuar</a:t>
              </a:r>
            </a:p>
            <a:p>
              <a:pPr algn="l" marL="352335" indent="-176168" lvl="1">
                <a:lnSpc>
                  <a:spcPts val="2336"/>
                </a:lnSpc>
                <a:buFont typeface="Arial"/>
                <a:buChar char="•"/>
              </a:pPr>
              <a:r>
                <a:rPr lang="en-US" sz="194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¿qué cliente requiere atención?</a:t>
              </a:r>
            </a:p>
            <a:p>
              <a:pPr algn="l" marL="352335" indent="-176168" lvl="1">
                <a:lnSpc>
                  <a:spcPts val="2336"/>
                </a:lnSpc>
                <a:buFont typeface="Arial"/>
                <a:buChar char="•"/>
              </a:pPr>
              <a:r>
                <a:rPr lang="en-US" sz="194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¿en relación con qué familia de producto?</a:t>
              </a:r>
            </a:p>
            <a:p>
              <a:pPr algn="l" marL="352335" indent="-176168" lvl="1">
                <a:lnSpc>
                  <a:spcPts val="2336"/>
                </a:lnSpc>
                <a:buFont typeface="Arial"/>
                <a:buChar char="•"/>
              </a:pPr>
              <a:r>
                <a:rPr lang="en-US" sz="194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¿por qué motivo?</a:t>
              </a:r>
            </a:p>
            <a:p>
              <a:pPr algn="l" marL="352335" indent="-176168" lvl="1">
                <a:lnSpc>
                  <a:spcPts val="2336"/>
                </a:lnSpc>
                <a:buFont typeface="Arial"/>
                <a:buChar char="•"/>
              </a:pPr>
              <a:r>
                <a:rPr lang="en-US" sz="194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¿con qué prioridad?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69374" y="5100061"/>
            <a:ext cx="1766680" cy="716698"/>
            <a:chOff x="0" y="0"/>
            <a:chExt cx="4029062" cy="16344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3990975" cy="1596390"/>
            </a:xfrm>
            <a:custGeom>
              <a:avLst/>
              <a:gdLst/>
              <a:ahLst/>
              <a:cxnLst/>
              <a:rect r="r" b="b" t="t" l="l"/>
              <a:pathLst>
                <a:path h="1596390" w="3990975">
                  <a:moveTo>
                    <a:pt x="0" y="0"/>
                  </a:moveTo>
                  <a:lnTo>
                    <a:pt x="3181477" y="0"/>
                  </a:lnTo>
                  <a:lnTo>
                    <a:pt x="3990975" y="798195"/>
                  </a:lnTo>
                  <a:lnTo>
                    <a:pt x="3181477" y="1596390"/>
                  </a:lnTo>
                  <a:lnTo>
                    <a:pt x="0" y="1596390"/>
                  </a:lnTo>
                  <a:lnTo>
                    <a:pt x="809498" y="798195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-29" y="0"/>
              <a:ext cx="4029104" cy="1634490"/>
            </a:xfrm>
            <a:custGeom>
              <a:avLst/>
              <a:gdLst/>
              <a:ahLst/>
              <a:cxnLst/>
              <a:rect r="r" b="b" t="t" l="l"/>
              <a:pathLst>
                <a:path h="1634490" w="4029104">
                  <a:moveTo>
                    <a:pt x="19079" y="0"/>
                  </a:moveTo>
                  <a:lnTo>
                    <a:pt x="3200556" y="0"/>
                  </a:lnTo>
                  <a:cubicBezTo>
                    <a:pt x="3205509" y="0"/>
                    <a:pt x="3210335" y="2032"/>
                    <a:pt x="3213891" y="5461"/>
                  </a:cubicBezTo>
                  <a:lnTo>
                    <a:pt x="4023389" y="803656"/>
                  </a:lnTo>
                  <a:cubicBezTo>
                    <a:pt x="4027072" y="807212"/>
                    <a:pt x="4029104" y="812165"/>
                    <a:pt x="4029104" y="817245"/>
                  </a:cubicBezTo>
                  <a:cubicBezTo>
                    <a:pt x="4029104" y="822325"/>
                    <a:pt x="4027072" y="827278"/>
                    <a:pt x="4023389" y="830834"/>
                  </a:cubicBezTo>
                  <a:lnTo>
                    <a:pt x="3213891" y="1629029"/>
                  </a:lnTo>
                  <a:cubicBezTo>
                    <a:pt x="3210335" y="1632585"/>
                    <a:pt x="3205509" y="1634490"/>
                    <a:pt x="3200556" y="1634490"/>
                  </a:cubicBezTo>
                  <a:lnTo>
                    <a:pt x="19079" y="1634490"/>
                  </a:lnTo>
                  <a:cubicBezTo>
                    <a:pt x="11332" y="1634490"/>
                    <a:pt x="4347" y="1629791"/>
                    <a:pt x="1426" y="1622679"/>
                  </a:cubicBezTo>
                  <a:cubicBezTo>
                    <a:pt x="-1495" y="1615567"/>
                    <a:pt x="156" y="1607312"/>
                    <a:pt x="5617" y="1601851"/>
                  </a:cubicBezTo>
                  <a:lnTo>
                    <a:pt x="815242" y="803656"/>
                  </a:lnTo>
                  <a:lnTo>
                    <a:pt x="828577" y="817245"/>
                  </a:lnTo>
                  <a:lnTo>
                    <a:pt x="815242" y="830834"/>
                  </a:lnTo>
                  <a:lnTo>
                    <a:pt x="5744" y="32639"/>
                  </a:lnTo>
                  <a:cubicBezTo>
                    <a:pt x="156" y="27178"/>
                    <a:pt x="-1495" y="18923"/>
                    <a:pt x="1426" y="11811"/>
                  </a:cubicBezTo>
                  <a:cubicBezTo>
                    <a:pt x="4347" y="4699"/>
                    <a:pt x="11332" y="0"/>
                    <a:pt x="19079" y="0"/>
                  </a:cubicBezTo>
                  <a:moveTo>
                    <a:pt x="19079" y="38100"/>
                  </a:moveTo>
                  <a:lnTo>
                    <a:pt x="19079" y="19050"/>
                  </a:lnTo>
                  <a:lnTo>
                    <a:pt x="32414" y="5461"/>
                  </a:lnTo>
                  <a:lnTo>
                    <a:pt x="841912" y="803656"/>
                  </a:lnTo>
                  <a:cubicBezTo>
                    <a:pt x="845595" y="807212"/>
                    <a:pt x="847627" y="812165"/>
                    <a:pt x="847627" y="817245"/>
                  </a:cubicBezTo>
                  <a:cubicBezTo>
                    <a:pt x="847627" y="822325"/>
                    <a:pt x="845595" y="827278"/>
                    <a:pt x="841912" y="830834"/>
                  </a:cubicBezTo>
                  <a:lnTo>
                    <a:pt x="32414" y="1629029"/>
                  </a:lnTo>
                  <a:lnTo>
                    <a:pt x="19079" y="1615440"/>
                  </a:lnTo>
                  <a:lnTo>
                    <a:pt x="19079" y="1596390"/>
                  </a:lnTo>
                  <a:lnTo>
                    <a:pt x="3200556" y="1596390"/>
                  </a:lnTo>
                  <a:lnTo>
                    <a:pt x="3200556" y="1615440"/>
                  </a:lnTo>
                  <a:lnTo>
                    <a:pt x="3187221" y="1601851"/>
                  </a:lnTo>
                  <a:lnTo>
                    <a:pt x="3996719" y="803656"/>
                  </a:lnTo>
                  <a:lnTo>
                    <a:pt x="4010054" y="817245"/>
                  </a:lnTo>
                  <a:lnTo>
                    <a:pt x="3996719" y="830834"/>
                  </a:lnTo>
                  <a:lnTo>
                    <a:pt x="3187094" y="32639"/>
                  </a:lnTo>
                  <a:lnTo>
                    <a:pt x="3200429" y="19050"/>
                  </a:lnTo>
                  <a:lnTo>
                    <a:pt x="3200429" y="38100"/>
                  </a:lnTo>
                  <a:lnTo>
                    <a:pt x="19079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219369" y="5100061"/>
            <a:ext cx="1066694" cy="716698"/>
            <a:chOff x="0" y="0"/>
            <a:chExt cx="2432685" cy="16344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2680" cy="1634484"/>
            </a:xfrm>
            <a:custGeom>
              <a:avLst/>
              <a:gdLst/>
              <a:ahLst/>
              <a:cxnLst/>
              <a:rect r="r" b="b" t="t" l="l"/>
              <a:pathLst>
                <a:path h="1634484" w="2432680">
                  <a:moveTo>
                    <a:pt x="0" y="0"/>
                  </a:moveTo>
                  <a:lnTo>
                    <a:pt x="2432680" y="0"/>
                  </a:lnTo>
                  <a:lnTo>
                    <a:pt x="2432680" y="1634484"/>
                  </a:lnTo>
                  <a:lnTo>
                    <a:pt x="0" y="16344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205" t="0" r="-3620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432685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Histórico de compra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44355" y="5100061"/>
            <a:ext cx="1766680" cy="716698"/>
            <a:chOff x="0" y="0"/>
            <a:chExt cx="4029062" cy="16344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3990975" cy="1596390"/>
            </a:xfrm>
            <a:custGeom>
              <a:avLst/>
              <a:gdLst/>
              <a:ahLst/>
              <a:cxnLst/>
              <a:rect r="r" b="b" t="t" l="l"/>
              <a:pathLst>
                <a:path h="1596390" w="3990975">
                  <a:moveTo>
                    <a:pt x="0" y="0"/>
                  </a:moveTo>
                  <a:lnTo>
                    <a:pt x="3181477" y="0"/>
                  </a:lnTo>
                  <a:lnTo>
                    <a:pt x="3990975" y="798195"/>
                  </a:lnTo>
                  <a:lnTo>
                    <a:pt x="3181477" y="1596390"/>
                  </a:lnTo>
                  <a:lnTo>
                    <a:pt x="0" y="1596390"/>
                  </a:lnTo>
                  <a:lnTo>
                    <a:pt x="809498" y="798195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-29" y="0"/>
              <a:ext cx="4029104" cy="1634490"/>
            </a:xfrm>
            <a:custGeom>
              <a:avLst/>
              <a:gdLst/>
              <a:ahLst/>
              <a:cxnLst/>
              <a:rect r="r" b="b" t="t" l="l"/>
              <a:pathLst>
                <a:path h="1634490" w="4029104">
                  <a:moveTo>
                    <a:pt x="19079" y="0"/>
                  </a:moveTo>
                  <a:lnTo>
                    <a:pt x="3200556" y="0"/>
                  </a:lnTo>
                  <a:cubicBezTo>
                    <a:pt x="3205509" y="0"/>
                    <a:pt x="3210335" y="2032"/>
                    <a:pt x="3213891" y="5461"/>
                  </a:cubicBezTo>
                  <a:lnTo>
                    <a:pt x="4023389" y="803656"/>
                  </a:lnTo>
                  <a:cubicBezTo>
                    <a:pt x="4027072" y="807212"/>
                    <a:pt x="4029104" y="812165"/>
                    <a:pt x="4029104" y="817245"/>
                  </a:cubicBezTo>
                  <a:cubicBezTo>
                    <a:pt x="4029104" y="822325"/>
                    <a:pt x="4027072" y="827278"/>
                    <a:pt x="4023389" y="830834"/>
                  </a:cubicBezTo>
                  <a:lnTo>
                    <a:pt x="3213891" y="1629029"/>
                  </a:lnTo>
                  <a:cubicBezTo>
                    <a:pt x="3210335" y="1632585"/>
                    <a:pt x="3205509" y="1634490"/>
                    <a:pt x="3200556" y="1634490"/>
                  </a:cubicBezTo>
                  <a:lnTo>
                    <a:pt x="19079" y="1634490"/>
                  </a:lnTo>
                  <a:cubicBezTo>
                    <a:pt x="11332" y="1634490"/>
                    <a:pt x="4347" y="1629791"/>
                    <a:pt x="1426" y="1622679"/>
                  </a:cubicBezTo>
                  <a:cubicBezTo>
                    <a:pt x="-1495" y="1615567"/>
                    <a:pt x="156" y="1607312"/>
                    <a:pt x="5617" y="1601851"/>
                  </a:cubicBezTo>
                  <a:lnTo>
                    <a:pt x="815242" y="803656"/>
                  </a:lnTo>
                  <a:lnTo>
                    <a:pt x="828577" y="817245"/>
                  </a:lnTo>
                  <a:lnTo>
                    <a:pt x="815242" y="830834"/>
                  </a:lnTo>
                  <a:lnTo>
                    <a:pt x="5744" y="32639"/>
                  </a:lnTo>
                  <a:cubicBezTo>
                    <a:pt x="156" y="27178"/>
                    <a:pt x="-1495" y="18923"/>
                    <a:pt x="1426" y="11811"/>
                  </a:cubicBezTo>
                  <a:cubicBezTo>
                    <a:pt x="4347" y="4699"/>
                    <a:pt x="11332" y="0"/>
                    <a:pt x="19079" y="0"/>
                  </a:cubicBezTo>
                  <a:moveTo>
                    <a:pt x="19079" y="38100"/>
                  </a:moveTo>
                  <a:lnTo>
                    <a:pt x="19079" y="19050"/>
                  </a:lnTo>
                  <a:lnTo>
                    <a:pt x="32414" y="5461"/>
                  </a:lnTo>
                  <a:lnTo>
                    <a:pt x="841912" y="803656"/>
                  </a:lnTo>
                  <a:cubicBezTo>
                    <a:pt x="845595" y="807212"/>
                    <a:pt x="847627" y="812165"/>
                    <a:pt x="847627" y="817245"/>
                  </a:cubicBezTo>
                  <a:cubicBezTo>
                    <a:pt x="847627" y="822325"/>
                    <a:pt x="845595" y="827278"/>
                    <a:pt x="841912" y="830834"/>
                  </a:cubicBezTo>
                  <a:lnTo>
                    <a:pt x="32414" y="1629029"/>
                  </a:lnTo>
                  <a:lnTo>
                    <a:pt x="19079" y="1615440"/>
                  </a:lnTo>
                  <a:lnTo>
                    <a:pt x="19079" y="1596390"/>
                  </a:lnTo>
                  <a:lnTo>
                    <a:pt x="3200556" y="1596390"/>
                  </a:lnTo>
                  <a:lnTo>
                    <a:pt x="3200556" y="1615440"/>
                  </a:lnTo>
                  <a:lnTo>
                    <a:pt x="3187221" y="1601851"/>
                  </a:lnTo>
                  <a:lnTo>
                    <a:pt x="3996719" y="803656"/>
                  </a:lnTo>
                  <a:lnTo>
                    <a:pt x="4010054" y="817245"/>
                  </a:lnTo>
                  <a:lnTo>
                    <a:pt x="3996719" y="830834"/>
                  </a:lnTo>
                  <a:lnTo>
                    <a:pt x="3187094" y="32639"/>
                  </a:lnTo>
                  <a:lnTo>
                    <a:pt x="3200429" y="19050"/>
                  </a:lnTo>
                  <a:lnTo>
                    <a:pt x="3200429" y="38100"/>
                  </a:lnTo>
                  <a:lnTo>
                    <a:pt x="19079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794346" y="5100061"/>
            <a:ext cx="1066694" cy="716698"/>
            <a:chOff x="0" y="0"/>
            <a:chExt cx="2432685" cy="16344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2680" cy="1634484"/>
            </a:xfrm>
            <a:custGeom>
              <a:avLst/>
              <a:gdLst/>
              <a:ahLst/>
              <a:cxnLst/>
              <a:rect r="r" b="b" t="t" l="l"/>
              <a:pathLst>
                <a:path h="1634484" w="2432680">
                  <a:moveTo>
                    <a:pt x="0" y="0"/>
                  </a:moveTo>
                  <a:lnTo>
                    <a:pt x="2432680" y="0"/>
                  </a:lnTo>
                  <a:lnTo>
                    <a:pt x="2432680" y="1634484"/>
                  </a:lnTo>
                  <a:lnTo>
                    <a:pt x="0" y="16344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205" t="0" r="-3620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2432685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Detección de señal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019331" y="5100061"/>
            <a:ext cx="1766680" cy="716698"/>
            <a:chOff x="0" y="0"/>
            <a:chExt cx="4029062" cy="16344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9050" y="19050"/>
              <a:ext cx="3990975" cy="1596390"/>
            </a:xfrm>
            <a:custGeom>
              <a:avLst/>
              <a:gdLst/>
              <a:ahLst/>
              <a:cxnLst/>
              <a:rect r="r" b="b" t="t" l="l"/>
              <a:pathLst>
                <a:path h="1596390" w="3990975">
                  <a:moveTo>
                    <a:pt x="0" y="0"/>
                  </a:moveTo>
                  <a:lnTo>
                    <a:pt x="3181477" y="0"/>
                  </a:lnTo>
                  <a:lnTo>
                    <a:pt x="3990975" y="798195"/>
                  </a:lnTo>
                  <a:lnTo>
                    <a:pt x="3181477" y="1596390"/>
                  </a:lnTo>
                  <a:lnTo>
                    <a:pt x="0" y="1596390"/>
                  </a:lnTo>
                  <a:lnTo>
                    <a:pt x="809498" y="798195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-29" y="0"/>
              <a:ext cx="4029104" cy="1634490"/>
            </a:xfrm>
            <a:custGeom>
              <a:avLst/>
              <a:gdLst/>
              <a:ahLst/>
              <a:cxnLst/>
              <a:rect r="r" b="b" t="t" l="l"/>
              <a:pathLst>
                <a:path h="1634490" w="4029104">
                  <a:moveTo>
                    <a:pt x="19079" y="0"/>
                  </a:moveTo>
                  <a:lnTo>
                    <a:pt x="3200556" y="0"/>
                  </a:lnTo>
                  <a:cubicBezTo>
                    <a:pt x="3205509" y="0"/>
                    <a:pt x="3210335" y="2032"/>
                    <a:pt x="3213891" y="5461"/>
                  </a:cubicBezTo>
                  <a:lnTo>
                    <a:pt x="4023389" y="803656"/>
                  </a:lnTo>
                  <a:cubicBezTo>
                    <a:pt x="4027072" y="807212"/>
                    <a:pt x="4029104" y="812165"/>
                    <a:pt x="4029104" y="817245"/>
                  </a:cubicBezTo>
                  <a:cubicBezTo>
                    <a:pt x="4029104" y="822325"/>
                    <a:pt x="4027072" y="827278"/>
                    <a:pt x="4023389" y="830834"/>
                  </a:cubicBezTo>
                  <a:lnTo>
                    <a:pt x="3213891" y="1629029"/>
                  </a:lnTo>
                  <a:cubicBezTo>
                    <a:pt x="3210335" y="1632585"/>
                    <a:pt x="3205509" y="1634490"/>
                    <a:pt x="3200556" y="1634490"/>
                  </a:cubicBezTo>
                  <a:lnTo>
                    <a:pt x="19079" y="1634490"/>
                  </a:lnTo>
                  <a:cubicBezTo>
                    <a:pt x="11332" y="1634490"/>
                    <a:pt x="4347" y="1629791"/>
                    <a:pt x="1426" y="1622679"/>
                  </a:cubicBezTo>
                  <a:cubicBezTo>
                    <a:pt x="-1495" y="1615567"/>
                    <a:pt x="156" y="1607312"/>
                    <a:pt x="5617" y="1601851"/>
                  </a:cubicBezTo>
                  <a:lnTo>
                    <a:pt x="815242" y="803656"/>
                  </a:lnTo>
                  <a:lnTo>
                    <a:pt x="828577" y="817245"/>
                  </a:lnTo>
                  <a:lnTo>
                    <a:pt x="815242" y="830834"/>
                  </a:lnTo>
                  <a:lnTo>
                    <a:pt x="5744" y="32639"/>
                  </a:lnTo>
                  <a:cubicBezTo>
                    <a:pt x="156" y="27178"/>
                    <a:pt x="-1495" y="18923"/>
                    <a:pt x="1426" y="11811"/>
                  </a:cubicBezTo>
                  <a:cubicBezTo>
                    <a:pt x="4347" y="4699"/>
                    <a:pt x="11332" y="0"/>
                    <a:pt x="19079" y="0"/>
                  </a:cubicBezTo>
                  <a:moveTo>
                    <a:pt x="19079" y="38100"/>
                  </a:moveTo>
                  <a:lnTo>
                    <a:pt x="19079" y="19050"/>
                  </a:lnTo>
                  <a:lnTo>
                    <a:pt x="32414" y="5461"/>
                  </a:lnTo>
                  <a:lnTo>
                    <a:pt x="841912" y="803656"/>
                  </a:lnTo>
                  <a:cubicBezTo>
                    <a:pt x="845595" y="807212"/>
                    <a:pt x="847627" y="812165"/>
                    <a:pt x="847627" y="817245"/>
                  </a:cubicBezTo>
                  <a:cubicBezTo>
                    <a:pt x="847627" y="822325"/>
                    <a:pt x="845595" y="827278"/>
                    <a:pt x="841912" y="830834"/>
                  </a:cubicBezTo>
                  <a:lnTo>
                    <a:pt x="32414" y="1629029"/>
                  </a:lnTo>
                  <a:lnTo>
                    <a:pt x="19079" y="1615440"/>
                  </a:lnTo>
                  <a:lnTo>
                    <a:pt x="19079" y="1596390"/>
                  </a:lnTo>
                  <a:lnTo>
                    <a:pt x="3200556" y="1596390"/>
                  </a:lnTo>
                  <a:lnTo>
                    <a:pt x="3200556" y="1615440"/>
                  </a:lnTo>
                  <a:lnTo>
                    <a:pt x="3187221" y="1601851"/>
                  </a:lnTo>
                  <a:lnTo>
                    <a:pt x="3996719" y="803656"/>
                  </a:lnTo>
                  <a:lnTo>
                    <a:pt x="4010054" y="817245"/>
                  </a:lnTo>
                  <a:lnTo>
                    <a:pt x="3996719" y="830834"/>
                  </a:lnTo>
                  <a:lnTo>
                    <a:pt x="3187094" y="32639"/>
                  </a:lnTo>
                  <a:lnTo>
                    <a:pt x="3200429" y="19050"/>
                  </a:lnTo>
                  <a:lnTo>
                    <a:pt x="3200429" y="38100"/>
                  </a:lnTo>
                  <a:lnTo>
                    <a:pt x="19079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369327" y="5100061"/>
            <a:ext cx="1066694" cy="716698"/>
            <a:chOff x="0" y="0"/>
            <a:chExt cx="2432685" cy="16344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2680" cy="1634484"/>
            </a:xfrm>
            <a:custGeom>
              <a:avLst/>
              <a:gdLst/>
              <a:ahLst/>
              <a:cxnLst/>
              <a:rect r="r" b="b" t="t" l="l"/>
              <a:pathLst>
                <a:path h="1634484" w="2432680">
                  <a:moveTo>
                    <a:pt x="0" y="0"/>
                  </a:moveTo>
                  <a:lnTo>
                    <a:pt x="2432680" y="0"/>
                  </a:lnTo>
                  <a:lnTo>
                    <a:pt x="2432680" y="1634484"/>
                  </a:lnTo>
                  <a:lnTo>
                    <a:pt x="0" y="16344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205" t="0" r="-3620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2432685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Alerta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94308" y="5100061"/>
            <a:ext cx="1766680" cy="716698"/>
            <a:chOff x="0" y="0"/>
            <a:chExt cx="4029062" cy="16344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9050" y="19050"/>
              <a:ext cx="3990975" cy="1596390"/>
            </a:xfrm>
            <a:custGeom>
              <a:avLst/>
              <a:gdLst/>
              <a:ahLst/>
              <a:cxnLst/>
              <a:rect r="r" b="b" t="t" l="l"/>
              <a:pathLst>
                <a:path h="1596390" w="3990975">
                  <a:moveTo>
                    <a:pt x="0" y="0"/>
                  </a:moveTo>
                  <a:lnTo>
                    <a:pt x="3181477" y="0"/>
                  </a:lnTo>
                  <a:lnTo>
                    <a:pt x="3990975" y="798195"/>
                  </a:lnTo>
                  <a:lnTo>
                    <a:pt x="3181477" y="1596390"/>
                  </a:lnTo>
                  <a:lnTo>
                    <a:pt x="0" y="1596390"/>
                  </a:lnTo>
                  <a:lnTo>
                    <a:pt x="809498" y="798195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-29" y="0"/>
              <a:ext cx="4029104" cy="1634490"/>
            </a:xfrm>
            <a:custGeom>
              <a:avLst/>
              <a:gdLst/>
              <a:ahLst/>
              <a:cxnLst/>
              <a:rect r="r" b="b" t="t" l="l"/>
              <a:pathLst>
                <a:path h="1634490" w="4029104">
                  <a:moveTo>
                    <a:pt x="19079" y="0"/>
                  </a:moveTo>
                  <a:lnTo>
                    <a:pt x="3200556" y="0"/>
                  </a:lnTo>
                  <a:cubicBezTo>
                    <a:pt x="3205509" y="0"/>
                    <a:pt x="3210335" y="2032"/>
                    <a:pt x="3213891" y="5461"/>
                  </a:cubicBezTo>
                  <a:lnTo>
                    <a:pt x="4023389" y="803656"/>
                  </a:lnTo>
                  <a:cubicBezTo>
                    <a:pt x="4027072" y="807212"/>
                    <a:pt x="4029104" y="812165"/>
                    <a:pt x="4029104" y="817245"/>
                  </a:cubicBezTo>
                  <a:cubicBezTo>
                    <a:pt x="4029104" y="822325"/>
                    <a:pt x="4027072" y="827278"/>
                    <a:pt x="4023389" y="830834"/>
                  </a:cubicBezTo>
                  <a:lnTo>
                    <a:pt x="3213891" y="1629029"/>
                  </a:lnTo>
                  <a:cubicBezTo>
                    <a:pt x="3210335" y="1632585"/>
                    <a:pt x="3205509" y="1634490"/>
                    <a:pt x="3200556" y="1634490"/>
                  </a:cubicBezTo>
                  <a:lnTo>
                    <a:pt x="19079" y="1634490"/>
                  </a:lnTo>
                  <a:cubicBezTo>
                    <a:pt x="11332" y="1634490"/>
                    <a:pt x="4347" y="1629791"/>
                    <a:pt x="1426" y="1622679"/>
                  </a:cubicBezTo>
                  <a:cubicBezTo>
                    <a:pt x="-1495" y="1615567"/>
                    <a:pt x="156" y="1607312"/>
                    <a:pt x="5617" y="1601851"/>
                  </a:cubicBezTo>
                  <a:lnTo>
                    <a:pt x="815242" y="803656"/>
                  </a:lnTo>
                  <a:lnTo>
                    <a:pt x="828577" y="817245"/>
                  </a:lnTo>
                  <a:lnTo>
                    <a:pt x="815242" y="830834"/>
                  </a:lnTo>
                  <a:lnTo>
                    <a:pt x="5744" y="32639"/>
                  </a:lnTo>
                  <a:cubicBezTo>
                    <a:pt x="156" y="27178"/>
                    <a:pt x="-1495" y="18923"/>
                    <a:pt x="1426" y="11811"/>
                  </a:cubicBezTo>
                  <a:cubicBezTo>
                    <a:pt x="4347" y="4699"/>
                    <a:pt x="11332" y="0"/>
                    <a:pt x="19079" y="0"/>
                  </a:cubicBezTo>
                  <a:moveTo>
                    <a:pt x="19079" y="38100"/>
                  </a:moveTo>
                  <a:lnTo>
                    <a:pt x="19079" y="19050"/>
                  </a:lnTo>
                  <a:lnTo>
                    <a:pt x="32414" y="5461"/>
                  </a:lnTo>
                  <a:lnTo>
                    <a:pt x="841912" y="803656"/>
                  </a:lnTo>
                  <a:cubicBezTo>
                    <a:pt x="845595" y="807212"/>
                    <a:pt x="847627" y="812165"/>
                    <a:pt x="847627" y="817245"/>
                  </a:cubicBezTo>
                  <a:cubicBezTo>
                    <a:pt x="847627" y="822325"/>
                    <a:pt x="845595" y="827278"/>
                    <a:pt x="841912" y="830834"/>
                  </a:cubicBezTo>
                  <a:lnTo>
                    <a:pt x="32414" y="1629029"/>
                  </a:lnTo>
                  <a:lnTo>
                    <a:pt x="19079" y="1615440"/>
                  </a:lnTo>
                  <a:lnTo>
                    <a:pt x="19079" y="1596390"/>
                  </a:lnTo>
                  <a:lnTo>
                    <a:pt x="3200556" y="1596390"/>
                  </a:lnTo>
                  <a:lnTo>
                    <a:pt x="3200556" y="1615440"/>
                  </a:lnTo>
                  <a:lnTo>
                    <a:pt x="3187221" y="1601851"/>
                  </a:lnTo>
                  <a:lnTo>
                    <a:pt x="3996719" y="803656"/>
                  </a:lnTo>
                  <a:lnTo>
                    <a:pt x="4010054" y="817245"/>
                  </a:lnTo>
                  <a:lnTo>
                    <a:pt x="3996719" y="830834"/>
                  </a:lnTo>
                  <a:lnTo>
                    <a:pt x="3187094" y="32639"/>
                  </a:lnTo>
                  <a:lnTo>
                    <a:pt x="3200429" y="19050"/>
                  </a:lnTo>
                  <a:lnTo>
                    <a:pt x="3200429" y="38100"/>
                  </a:lnTo>
                  <a:lnTo>
                    <a:pt x="19079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944304" y="5100061"/>
            <a:ext cx="1066694" cy="716698"/>
            <a:chOff x="0" y="0"/>
            <a:chExt cx="2432685" cy="16344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2680" cy="1634484"/>
            </a:xfrm>
            <a:custGeom>
              <a:avLst/>
              <a:gdLst/>
              <a:ahLst/>
              <a:cxnLst/>
              <a:rect r="r" b="b" t="t" l="l"/>
              <a:pathLst>
                <a:path h="1634484" w="2432680">
                  <a:moveTo>
                    <a:pt x="0" y="0"/>
                  </a:moveTo>
                  <a:lnTo>
                    <a:pt x="2432680" y="0"/>
                  </a:lnTo>
                  <a:lnTo>
                    <a:pt x="2432680" y="1634484"/>
                  </a:lnTo>
                  <a:lnTo>
                    <a:pt x="0" y="16344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205" t="0" r="-36205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432685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Acción comercial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25616" y="964462"/>
            <a:ext cx="1402557" cy="424951"/>
            <a:chOff x="0" y="0"/>
            <a:chExt cx="3198647" cy="969137"/>
          </a:xfrm>
        </p:grpSpPr>
        <p:sp>
          <p:nvSpPr>
            <p:cNvPr name="Freeform 43" id="43" descr="Imagen"/>
            <p:cNvSpPr/>
            <p:nvPr/>
          </p:nvSpPr>
          <p:spPr>
            <a:xfrm flipH="false" flipV="false" rot="0">
              <a:off x="0" y="0"/>
              <a:ext cx="3198622" cy="969137"/>
            </a:xfrm>
            <a:custGeom>
              <a:avLst/>
              <a:gdLst/>
              <a:ahLst/>
              <a:cxnLst/>
              <a:rect r="r" b="b" t="t" l="l"/>
              <a:pathLst>
                <a:path h="969137" w="3198622">
                  <a:moveTo>
                    <a:pt x="0" y="0"/>
                  </a:moveTo>
                  <a:lnTo>
                    <a:pt x="3198622" y="0"/>
                  </a:lnTo>
                  <a:lnTo>
                    <a:pt x="3198622" y="969137"/>
                  </a:lnTo>
                  <a:lnTo>
                    <a:pt x="0" y="969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0" t="0" r="-161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484" y="1239848"/>
            <a:ext cx="9221850" cy="827761"/>
            <a:chOff x="0" y="0"/>
            <a:chExt cx="21031200" cy="1887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887784"/>
            </a:xfrm>
            <a:custGeom>
              <a:avLst/>
              <a:gdLst/>
              <a:ahLst/>
              <a:cxnLst/>
              <a:rect r="r" b="b" t="t" l="l"/>
              <a:pathLst>
                <a:path h="188778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87784"/>
                  </a:lnTo>
                  <a:lnTo>
                    <a:pt x="0" y="18877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076" r="0" b="-16707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1849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8"/>
                </a:lnSpc>
              </a:pPr>
              <a:r>
                <a:rPr lang="en-US" sz="3507">
                  <a:solidFill>
                    <a:srgbClr val="156082"/>
                  </a:solidFill>
                  <a:latin typeface="Aptos"/>
                  <a:ea typeface="Aptos"/>
                  <a:cs typeface="Aptos"/>
                  <a:sym typeface="Aptos"/>
                </a:rPr>
                <a:t>Dos dinámicas de compra distintas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075" y="5525803"/>
            <a:ext cx="8923922" cy="551290"/>
            <a:chOff x="0" y="0"/>
            <a:chExt cx="20351750" cy="1257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51750" cy="1257260"/>
            </a:xfrm>
            <a:custGeom>
              <a:avLst/>
              <a:gdLst/>
              <a:ahLst/>
              <a:cxnLst/>
              <a:rect r="r" b="b" t="t" l="l"/>
              <a:pathLst>
                <a:path h="1257260" w="20351750">
                  <a:moveTo>
                    <a:pt x="0" y="0"/>
                  </a:moveTo>
                  <a:lnTo>
                    <a:pt x="20351750" y="0"/>
                  </a:lnTo>
                  <a:lnTo>
                    <a:pt x="20351750" y="1257260"/>
                  </a:lnTo>
                  <a:lnTo>
                    <a:pt x="0" y="12572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11" r="0" b="-2654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0351750" cy="1238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2"/>
                </a:lnSpc>
              </a:pPr>
              <a:r>
                <a:rPr lang="en-US" sz="1946" b="true">
                  <a:solidFill>
                    <a:srgbClr val="15608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 esperamos una lógica única que trate ambos bloques de la misma forma.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15821" y="2266323"/>
          <a:ext cx="8820900" cy="2918025"/>
        </p:xfrm>
        <a:graphic>
          <a:graphicData uri="http://schemas.openxmlformats.org/drawingml/2006/table">
            <a:tbl>
              <a:tblPr/>
              <a:tblGrid>
                <a:gridCol w="2940300"/>
                <a:gridCol w="2653306"/>
                <a:gridCol w="3227294"/>
              </a:tblGrid>
              <a:tr h="4868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982"/>
                        </a:lnSpc>
                        <a:defRPr/>
                      </a:pPr>
                      <a:endParaRPr lang="en-US" sz="1100"/>
                    </a:p>
                  </a:txBody>
                  <a:tcPr marL="53460" marR="53460" marT="53460" marB="53460" anchor="t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6"/>
                        </a:lnSpc>
                        <a:defRPr/>
                      </a:pPr>
                      <a:r>
                        <a:rPr lang="en-US" sz="2455" b="true">
                          <a:solidFill>
                            <a:srgbClr val="F2F2F2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Commodities</a:t>
                      </a:r>
                      <a:endParaRPr lang="en-US" sz="1100"/>
                    </a:p>
                  </a:txBody>
                  <a:tcPr marL="53460" marR="53460" marT="53460" marB="53460" anchor="t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6"/>
                        </a:lnSpc>
                        <a:defRPr/>
                      </a:pPr>
                      <a:r>
                        <a:rPr lang="en-US" sz="2455" b="true">
                          <a:solidFill>
                            <a:srgbClr val="F2F2F2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Productos técnicos</a:t>
                      </a:r>
                      <a:endParaRPr lang="en-US" sz="1100"/>
                    </a:p>
                  </a:txBody>
                  <a:tcPr marL="53460" marR="53460" marT="53460" marB="53460" anchor="t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810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Frecuencia de compra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Recurrente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Más variable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  <a:tr h="810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Fuente de variabilidad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Consumo regular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Dependiente de los casos clínicos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</a:tr>
              <a:tr h="8103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 b="true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Riesgo de interpretación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Demanda no capturada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4"/>
                        </a:lnSpc>
                        <a:defRPr/>
                      </a:pPr>
                      <a:r>
                        <a:rPr lang="en-US" sz="1753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Confundir pausa normal con fuga</a:t>
                      </a:r>
                      <a:endParaRPr lang="en-US" sz="1100"/>
                    </a:p>
                  </a:txBody>
                  <a:tcPr marL="53460" marR="53460" marT="53460" marB="53460" anchor="ctr">
                    <a:lnL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84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581076" y="833034"/>
            <a:ext cx="1844053" cy="748529"/>
            <a:chOff x="0" y="0"/>
            <a:chExt cx="4205516" cy="1707083"/>
          </a:xfrm>
        </p:grpSpPr>
        <p:sp>
          <p:nvSpPr>
            <p:cNvPr name="Freeform 10" id="10" descr="AF-INIBSA-Logotipo-RGB.png"/>
            <p:cNvSpPr/>
            <p:nvPr/>
          </p:nvSpPr>
          <p:spPr>
            <a:xfrm flipH="false" flipV="false" rot="0">
              <a:off x="0" y="0"/>
              <a:ext cx="4205478" cy="1707134"/>
            </a:xfrm>
            <a:custGeom>
              <a:avLst/>
              <a:gdLst/>
              <a:ahLst/>
              <a:cxnLst/>
              <a:rect r="r" b="b" t="t" l="l"/>
              <a:pathLst>
                <a:path h="1707134" w="4205478">
                  <a:moveTo>
                    <a:pt x="0" y="0"/>
                  </a:moveTo>
                  <a:lnTo>
                    <a:pt x="4205478" y="0"/>
                  </a:lnTo>
                  <a:lnTo>
                    <a:pt x="4205478" y="1707134"/>
                  </a:lnTo>
                  <a:lnTo>
                    <a:pt x="0" y="1707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49" r="-22452" b="-5487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56000"/>
            <a:ext cx="10692000" cy="6000885"/>
          </a:xfrm>
          <a:custGeom>
            <a:avLst/>
            <a:gdLst/>
            <a:ahLst/>
            <a:cxnLst/>
            <a:rect r="r" b="b" t="t" l="l"/>
            <a:pathLst>
              <a:path h="6000885" w="10692000">
                <a:moveTo>
                  <a:pt x="0" y="0"/>
                </a:moveTo>
                <a:lnTo>
                  <a:pt x="10692000" y="0"/>
                </a:lnTo>
                <a:lnTo>
                  <a:pt x="10692000" y="6000885"/>
                </a:lnTo>
                <a:lnTo>
                  <a:pt x="0" y="600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43413"/>
            <a:ext cx="10692000" cy="6000885"/>
          </a:xfrm>
          <a:custGeom>
            <a:avLst/>
            <a:gdLst/>
            <a:ahLst/>
            <a:cxnLst/>
            <a:rect r="r" b="b" t="t" l="l"/>
            <a:pathLst>
              <a:path h="6000885" w="10692000">
                <a:moveTo>
                  <a:pt x="0" y="0"/>
                </a:moveTo>
                <a:lnTo>
                  <a:pt x="10692000" y="0"/>
                </a:lnTo>
                <a:lnTo>
                  <a:pt x="10692000" y="6000885"/>
                </a:lnTo>
                <a:lnTo>
                  <a:pt x="0" y="600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128" y="1149027"/>
            <a:ext cx="9221850" cy="853934"/>
            <a:chOff x="0" y="0"/>
            <a:chExt cx="21031200" cy="19474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947474"/>
            </a:xfrm>
            <a:custGeom>
              <a:avLst/>
              <a:gdLst/>
              <a:ahLst/>
              <a:cxnLst/>
              <a:rect r="r" b="b" t="t" l="l"/>
              <a:pathLst>
                <a:path h="194747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47474"/>
                  </a:lnTo>
                  <a:lnTo>
                    <a:pt x="0" y="19474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423" r="0" b="-1604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031200" cy="1899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67"/>
                </a:lnSpc>
              </a:pPr>
              <a:r>
                <a:rPr lang="en-US" sz="3858">
                  <a:solidFill>
                    <a:srgbClr val="156082"/>
                  </a:solidFill>
                  <a:latin typeface="Aptos"/>
                  <a:ea typeface="Aptos"/>
                  <a:cs typeface="Aptos"/>
                  <a:sym typeface="Aptos"/>
                </a:rPr>
                <a:t>Ejemplo conceptual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81076" y="833034"/>
            <a:ext cx="1844053" cy="748529"/>
            <a:chOff x="0" y="0"/>
            <a:chExt cx="4205516" cy="1707083"/>
          </a:xfrm>
        </p:grpSpPr>
        <p:sp>
          <p:nvSpPr>
            <p:cNvPr name="Freeform 6" id="6" descr="AF-INIBSA-Logotipo-RGB.png"/>
            <p:cNvSpPr/>
            <p:nvPr/>
          </p:nvSpPr>
          <p:spPr>
            <a:xfrm flipH="false" flipV="false" rot="0">
              <a:off x="0" y="0"/>
              <a:ext cx="4205478" cy="1707134"/>
            </a:xfrm>
            <a:custGeom>
              <a:avLst/>
              <a:gdLst/>
              <a:ahLst/>
              <a:cxnLst/>
              <a:rect r="r" b="b" t="t" l="l"/>
              <a:pathLst>
                <a:path h="1707134" w="4205478">
                  <a:moveTo>
                    <a:pt x="0" y="0"/>
                  </a:moveTo>
                  <a:lnTo>
                    <a:pt x="4205478" y="0"/>
                  </a:lnTo>
                  <a:lnTo>
                    <a:pt x="4205478" y="1707134"/>
                  </a:lnTo>
                  <a:lnTo>
                    <a:pt x="0" y="1707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49" r="-22452" b="-5487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8725" y="2287330"/>
            <a:ext cx="9067275" cy="4617266"/>
            <a:chOff x="0" y="0"/>
            <a:chExt cx="19240500" cy="97977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40500" cy="9797669"/>
            </a:xfrm>
            <a:custGeom>
              <a:avLst/>
              <a:gdLst/>
              <a:ahLst/>
              <a:cxnLst/>
              <a:rect r="r" b="b" t="t" l="l"/>
              <a:pathLst>
                <a:path h="9797669" w="19240500">
                  <a:moveTo>
                    <a:pt x="0" y="0"/>
                  </a:moveTo>
                  <a:lnTo>
                    <a:pt x="19240500" y="0"/>
                  </a:lnTo>
                  <a:lnTo>
                    <a:pt x="19240500" y="9797669"/>
                  </a:lnTo>
                  <a:lnTo>
                    <a:pt x="0" y="9797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020" r="0" b="-7898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11" y="679286"/>
            <a:ext cx="10682889" cy="6124714"/>
          </a:xfrm>
          <a:custGeom>
            <a:avLst/>
            <a:gdLst/>
            <a:ahLst/>
            <a:cxnLst/>
            <a:rect r="r" b="b" t="t" l="l"/>
            <a:pathLst>
              <a:path h="6124714" w="10682889">
                <a:moveTo>
                  <a:pt x="0" y="0"/>
                </a:moveTo>
                <a:lnTo>
                  <a:pt x="10682889" y="0"/>
                </a:lnTo>
                <a:lnTo>
                  <a:pt x="10682889" y="6124714"/>
                </a:lnTo>
                <a:lnTo>
                  <a:pt x="0" y="6124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1" t="0" r="-961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89750"/>
            <a:ext cx="10692000" cy="6014250"/>
          </a:xfrm>
          <a:custGeom>
            <a:avLst/>
            <a:gdLst/>
            <a:ahLst/>
            <a:cxnLst/>
            <a:rect r="r" b="b" t="t" l="l"/>
            <a:pathLst>
              <a:path h="6014250" w="10692000">
                <a:moveTo>
                  <a:pt x="0" y="0"/>
                </a:moveTo>
                <a:lnTo>
                  <a:pt x="10692000" y="0"/>
                </a:lnTo>
                <a:lnTo>
                  <a:pt x="10692000" y="6014250"/>
                </a:lnTo>
                <a:lnTo>
                  <a:pt x="0" y="6014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3115"/>
            <a:ext cx="10692000" cy="6000885"/>
          </a:xfrm>
          <a:custGeom>
            <a:avLst/>
            <a:gdLst/>
            <a:ahLst/>
            <a:cxnLst/>
            <a:rect r="r" b="b" t="t" l="l"/>
            <a:pathLst>
              <a:path h="6000885" w="10692000">
                <a:moveTo>
                  <a:pt x="0" y="0"/>
                </a:moveTo>
                <a:lnTo>
                  <a:pt x="10692000" y="0"/>
                </a:lnTo>
                <a:lnTo>
                  <a:pt x="10692000" y="6000885"/>
                </a:lnTo>
                <a:lnTo>
                  <a:pt x="0" y="600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5"/>
            <a:ext cx="2843471" cy="6014250"/>
            <a:chOff x="0" y="0"/>
            <a:chExt cx="648477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8474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484747">
                  <a:moveTo>
                    <a:pt x="0" y="0"/>
                  </a:moveTo>
                  <a:lnTo>
                    <a:pt x="6484747" y="0"/>
                  </a:lnTo>
                  <a:lnTo>
                    <a:pt x="64847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60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18211" y="4715906"/>
            <a:ext cx="1724692" cy="673379"/>
            <a:chOff x="0" y="0"/>
            <a:chExt cx="3933304" cy="1535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3895217" cy="1497584"/>
            </a:xfrm>
            <a:custGeom>
              <a:avLst/>
              <a:gdLst/>
              <a:ahLst/>
              <a:cxnLst/>
              <a:rect r="r" b="b" t="t" l="l"/>
              <a:pathLst>
                <a:path h="1497584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1497584"/>
                  </a:lnTo>
                  <a:lnTo>
                    <a:pt x="0" y="14975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4862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33317" cy="1535684"/>
            </a:xfrm>
            <a:custGeom>
              <a:avLst/>
              <a:gdLst/>
              <a:ahLst/>
              <a:cxnLst/>
              <a:rect r="r" b="b" t="t" l="l"/>
              <a:pathLst>
                <a:path h="1535684" w="3933317">
                  <a:moveTo>
                    <a:pt x="19050" y="0"/>
                  </a:moveTo>
                  <a:lnTo>
                    <a:pt x="3914267" y="0"/>
                  </a:lnTo>
                  <a:cubicBezTo>
                    <a:pt x="3924808" y="0"/>
                    <a:pt x="3933317" y="8509"/>
                    <a:pt x="3933317" y="19050"/>
                  </a:cubicBezTo>
                  <a:lnTo>
                    <a:pt x="3933317" y="1516634"/>
                  </a:lnTo>
                  <a:cubicBezTo>
                    <a:pt x="3933317" y="1527175"/>
                    <a:pt x="3924808" y="1535684"/>
                    <a:pt x="3914267" y="1535684"/>
                  </a:cubicBezTo>
                  <a:lnTo>
                    <a:pt x="19050" y="1535684"/>
                  </a:lnTo>
                  <a:cubicBezTo>
                    <a:pt x="8509" y="1535684"/>
                    <a:pt x="0" y="1527175"/>
                    <a:pt x="0" y="151663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16634"/>
                  </a:lnTo>
                  <a:lnTo>
                    <a:pt x="19050" y="1516634"/>
                  </a:lnTo>
                  <a:lnTo>
                    <a:pt x="19050" y="1497584"/>
                  </a:lnTo>
                  <a:lnTo>
                    <a:pt x="3914267" y="1497584"/>
                  </a:lnTo>
                  <a:lnTo>
                    <a:pt x="3914267" y="1516634"/>
                  </a:lnTo>
                  <a:lnTo>
                    <a:pt x="3895217" y="1516634"/>
                  </a:lnTo>
                  <a:lnTo>
                    <a:pt x="3895217" y="19050"/>
                  </a:lnTo>
                  <a:lnTo>
                    <a:pt x="3914267" y="19050"/>
                  </a:lnTo>
                  <a:lnTo>
                    <a:pt x="391426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933304" cy="1507122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2462"/>
                </a:lnSpc>
              </a:pPr>
              <a:r>
                <a:rPr lang="en-US" sz="228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Productos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18211" y="5372585"/>
            <a:ext cx="1724692" cy="1018135"/>
            <a:chOff x="0" y="0"/>
            <a:chExt cx="3933304" cy="23219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3895217" cy="2283841"/>
            </a:xfrm>
            <a:custGeom>
              <a:avLst/>
              <a:gdLst/>
              <a:ahLst/>
              <a:cxnLst/>
              <a:rect r="r" b="b" t="t" l="l"/>
              <a:pathLst>
                <a:path h="2283841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2283841"/>
                  </a:lnTo>
                  <a:lnTo>
                    <a:pt x="0" y="2283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3317" cy="2321941"/>
            </a:xfrm>
            <a:custGeom>
              <a:avLst/>
              <a:gdLst/>
              <a:ahLst/>
              <a:cxnLst/>
              <a:rect r="r" b="b" t="t" l="l"/>
              <a:pathLst>
                <a:path h="2321941" w="3933317">
                  <a:moveTo>
                    <a:pt x="19050" y="0"/>
                  </a:moveTo>
                  <a:lnTo>
                    <a:pt x="3914267" y="0"/>
                  </a:lnTo>
                  <a:cubicBezTo>
                    <a:pt x="3924808" y="0"/>
                    <a:pt x="3933317" y="8509"/>
                    <a:pt x="3933317" y="19050"/>
                  </a:cubicBezTo>
                  <a:lnTo>
                    <a:pt x="3933317" y="2302891"/>
                  </a:lnTo>
                  <a:cubicBezTo>
                    <a:pt x="3933317" y="2313432"/>
                    <a:pt x="3924808" y="2321941"/>
                    <a:pt x="3914267" y="2321941"/>
                  </a:cubicBezTo>
                  <a:lnTo>
                    <a:pt x="19050" y="2321941"/>
                  </a:lnTo>
                  <a:cubicBezTo>
                    <a:pt x="8509" y="2321941"/>
                    <a:pt x="0" y="2313432"/>
                    <a:pt x="0" y="2302891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302891"/>
                  </a:lnTo>
                  <a:lnTo>
                    <a:pt x="19050" y="2302891"/>
                  </a:lnTo>
                  <a:lnTo>
                    <a:pt x="19050" y="2283841"/>
                  </a:lnTo>
                  <a:lnTo>
                    <a:pt x="3914267" y="2283841"/>
                  </a:lnTo>
                  <a:lnTo>
                    <a:pt x="3914267" y="2302891"/>
                  </a:lnTo>
                  <a:lnTo>
                    <a:pt x="3895217" y="2302891"/>
                  </a:lnTo>
                  <a:lnTo>
                    <a:pt x="3895217" y="19050"/>
                  </a:lnTo>
                  <a:lnTo>
                    <a:pt x="3914267" y="19050"/>
                  </a:lnTo>
                  <a:lnTo>
                    <a:pt x="391426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3933304" cy="2312416"/>
            </a:xfrm>
            <a:prstGeom prst="rect">
              <a:avLst/>
            </a:prstGeom>
          </p:spPr>
          <p:txBody>
            <a:bodyPr anchor="t" rtlCol="false" tIns="29700" lIns="29700" bIns="29700" rIns="2970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0F4761"/>
                  </a:solidFill>
                  <a:latin typeface="Aptos"/>
                  <a:ea typeface="Aptos"/>
                  <a:cs typeface="Aptos"/>
                  <a:sym typeface="Aptos"/>
                </a:rPr>
                <a:t>Jerarquía de productos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45255" y="2275441"/>
            <a:ext cx="1724692" cy="673379"/>
            <a:chOff x="0" y="0"/>
            <a:chExt cx="3933304" cy="15356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3895217" cy="1497584"/>
            </a:xfrm>
            <a:custGeom>
              <a:avLst/>
              <a:gdLst/>
              <a:ahLst/>
              <a:cxnLst/>
              <a:rect r="r" b="b" t="t" l="l"/>
              <a:pathLst>
                <a:path h="1497584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1497584"/>
                  </a:lnTo>
                  <a:lnTo>
                    <a:pt x="0" y="14975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3317" cy="1535684"/>
            </a:xfrm>
            <a:custGeom>
              <a:avLst/>
              <a:gdLst/>
              <a:ahLst/>
              <a:cxnLst/>
              <a:rect r="r" b="b" t="t" l="l"/>
              <a:pathLst>
                <a:path h="1535684" w="3933317">
                  <a:moveTo>
                    <a:pt x="19050" y="0"/>
                  </a:moveTo>
                  <a:lnTo>
                    <a:pt x="3914267" y="0"/>
                  </a:lnTo>
                  <a:cubicBezTo>
                    <a:pt x="3924808" y="0"/>
                    <a:pt x="3933317" y="8509"/>
                    <a:pt x="3933317" y="19050"/>
                  </a:cubicBezTo>
                  <a:lnTo>
                    <a:pt x="3933317" y="1516634"/>
                  </a:lnTo>
                  <a:cubicBezTo>
                    <a:pt x="3933317" y="1527175"/>
                    <a:pt x="3924808" y="1535684"/>
                    <a:pt x="3914267" y="1535684"/>
                  </a:cubicBezTo>
                  <a:lnTo>
                    <a:pt x="19050" y="1535684"/>
                  </a:lnTo>
                  <a:cubicBezTo>
                    <a:pt x="8509" y="1535684"/>
                    <a:pt x="0" y="1527175"/>
                    <a:pt x="0" y="151663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16634"/>
                  </a:lnTo>
                  <a:lnTo>
                    <a:pt x="19050" y="1516634"/>
                  </a:lnTo>
                  <a:lnTo>
                    <a:pt x="19050" y="1497584"/>
                  </a:lnTo>
                  <a:lnTo>
                    <a:pt x="3914267" y="1497584"/>
                  </a:lnTo>
                  <a:lnTo>
                    <a:pt x="3914267" y="1516634"/>
                  </a:lnTo>
                  <a:lnTo>
                    <a:pt x="3895217" y="1516634"/>
                  </a:lnTo>
                  <a:lnTo>
                    <a:pt x="3895217" y="19050"/>
                  </a:lnTo>
                  <a:lnTo>
                    <a:pt x="3914267" y="19050"/>
                  </a:lnTo>
                  <a:lnTo>
                    <a:pt x="391426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3933304" cy="1507122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2462"/>
                </a:lnSpc>
              </a:pPr>
              <a:r>
                <a:rPr lang="en-US" sz="228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Ventas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45255" y="2932113"/>
            <a:ext cx="1724692" cy="1018135"/>
            <a:chOff x="0" y="0"/>
            <a:chExt cx="3933304" cy="23219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3895217" cy="2283841"/>
            </a:xfrm>
            <a:custGeom>
              <a:avLst/>
              <a:gdLst/>
              <a:ahLst/>
              <a:cxnLst/>
              <a:rect r="r" b="b" t="t" l="l"/>
              <a:pathLst>
                <a:path h="2283841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2283841"/>
                  </a:lnTo>
                  <a:lnTo>
                    <a:pt x="0" y="2283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3317" cy="2321941"/>
            </a:xfrm>
            <a:custGeom>
              <a:avLst/>
              <a:gdLst/>
              <a:ahLst/>
              <a:cxnLst/>
              <a:rect r="r" b="b" t="t" l="l"/>
              <a:pathLst>
                <a:path h="2321941" w="3933317">
                  <a:moveTo>
                    <a:pt x="19050" y="0"/>
                  </a:moveTo>
                  <a:lnTo>
                    <a:pt x="3914267" y="0"/>
                  </a:lnTo>
                  <a:cubicBezTo>
                    <a:pt x="3924808" y="0"/>
                    <a:pt x="3933317" y="8509"/>
                    <a:pt x="3933317" y="19050"/>
                  </a:cubicBezTo>
                  <a:lnTo>
                    <a:pt x="3933317" y="2302891"/>
                  </a:lnTo>
                  <a:cubicBezTo>
                    <a:pt x="3933317" y="2313432"/>
                    <a:pt x="3924808" y="2321941"/>
                    <a:pt x="3914267" y="2321941"/>
                  </a:cubicBezTo>
                  <a:lnTo>
                    <a:pt x="19050" y="2321941"/>
                  </a:lnTo>
                  <a:cubicBezTo>
                    <a:pt x="8509" y="2321941"/>
                    <a:pt x="0" y="2313432"/>
                    <a:pt x="0" y="2302891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302891"/>
                  </a:lnTo>
                  <a:lnTo>
                    <a:pt x="19050" y="2302891"/>
                  </a:lnTo>
                  <a:lnTo>
                    <a:pt x="19050" y="2283841"/>
                  </a:lnTo>
                  <a:lnTo>
                    <a:pt x="3914267" y="2283841"/>
                  </a:lnTo>
                  <a:lnTo>
                    <a:pt x="3914267" y="2302891"/>
                  </a:lnTo>
                  <a:lnTo>
                    <a:pt x="3895217" y="2302891"/>
                  </a:lnTo>
                  <a:lnTo>
                    <a:pt x="3895217" y="19050"/>
                  </a:lnTo>
                  <a:lnTo>
                    <a:pt x="3914267" y="19050"/>
                  </a:lnTo>
                  <a:lnTo>
                    <a:pt x="391426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3933304" cy="2312416"/>
            </a:xfrm>
            <a:prstGeom prst="rect">
              <a:avLst/>
            </a:prstGeom>
          </p:spPr>
          <p:txBody>
            <a:bodyPr anchor="t" rtlCol="false" tIns="29700" lIns="29700" bIns="29700" rIns="2970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0F4761"/>
                  </a:solidFill>
                  <a:latin typeface="Aptos"/>
                  <a:ea typeface="Aptos"/>
                  <a:cs typeface="Aptos"/>
                  <a:sym typeface="Aptos"/>
                </a:rPr>
                <a:t>Transacciones comerciales a nivel de SKU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722748" y="4715906"/>
            <a:ext cx="1724692" cy="673379"/>
            <a:chOff x="0" y="0"/>
            <a:chExt cx="3933304" cy="15356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3895217" cy="1497584"/>
            </a:xfrm>
            <a:custGeom>
              <a:avLst/>
              <a:gdLst/>
              <a:ahLst/>
              <a:cxnLst/>
              <a:rect r="r" b="b" t="t" l="l"/>
              <a:pathLst>
                <a:path h="1497584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1497584"/>
                  </a:lnTo>
                  <a:lnTo>
                    <a:pt x="0" y="14975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486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33317" cy="1535684"/>
            </a:xfrm>
            <a:custGeom>
              <a:avLst/>
              <a:gdLst/>
              <a:ahLst/>
              <a:cxnLst/>
              <a:rect r="r" b="b" t="t" l="l"/>
              <a:pathLst>
                <a:path h="1535684" w="3933317">
                  <a:moveTo>
                    <a:pt x="19050" y="0"/>
                  </a:moveTo>
                  <a:lnTo>
                    <a:pt x="3914267" y="0"/>
                  </a:lnTo>
                  <a:cubicBezTo>
                    <a:pt x="3924808" y="0"/>
                    <a:pt x="3933317" y="8509"/>
                    <a:pt x="3933317" y="19050"/>
                  </a:cubicBezTo>
                  <a:lnTo>
                    <a:pt x="3933317" y="1516634"/>
                  </a:lnTo>
                  <a:cubicBezTo>
                    <a:pt x="3933317" y="1527175"/>
                    <a:pt x="3924808" y="1535684"/>
                    <a:pt x="3914267" y="1535684"/>
                  </a:cubicBezTo>
                  <a:lnTo>
                    <a:pt x="19050" y="1535684"/>
                  </a:lnTo>
                  <a:cubicBezTo>
                    <a:pt x="8509" y="1535684"/>
                    <a:pt x="0" y="1527175"/>
                    <a:pt x="0" y="151663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16634"/>
                  </a:lnTo>
                  <a:lnTo>
                    <a:pt x="19050" y="1516634"/>
                  </a:lnTo>
                  <a:lnTo>
                    <a:pt x="19050" y="1497584"/>
                  </a:lnTo>
                  <a:lnTo>
                    <a:pt x="3914267" y="1497584"/>
                  </a:lnTo>
                  <a:lnTo>
                    <a:pt x="3914267" y="1516634"/>
                  </a:lnTo>
                  <a:lnTo>
                    <a:pt x="3895217" y="1516634"/>
                  </a:lnTo>
                  <a:lnTo>
                    <a:pt x="3895217" y="19050"/>
                  </a:lnTo>
                  <a:lnTo>
                    <a:pt x="3914267" y="19050"/>
                  </a:lnTo>
                  <a:lnTo>
                    <a:pt x="391426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3933304" cy="1507122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2462"/>
                </a:lnSpc>
              </a:pPr>
              <a:r>
                <a:rPr lang="en-US" sz="228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Clientes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22748" y="5372585"/>
            <a:ext cx="1724692" cy="1018135"/>
            <a:chOff x="0" y="0"/>
            <a:chExt cx="3933304" cy="23219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3895217" cy="2283841"/>
            </a:xfrm>
            <a:custGeom>
              <a:avLst/>
              <a:gdLst/>
              <a:ahLst/>
              <a:cxnLst/>
              <a:rect r="r" b="b" t="t" l="l"/>
              <a:pathLst>
                <a:path h="2283841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2283841"/>
                  </a:lnTo>
                  <a:lnTo>
                    <a:pt x="0" y="2283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33317" cy="2321941"/>
            </a:xfrm>
            <a:custGeom>
              <a:avLst/>
              <a:gdLst/>
              <a:ahLst/>
              <a:cxnLst/>
              <a:rect r="r" b="b" t="t" l="l"/>
              <a:pathLst>
                <a:path h="2321941" w="3933317">
                  <a:moveTo>
                    <a:pt x="19050" y="0"/>
                  </a:moveTo>
                  <a:lnTo>
                    <a:pt x="3914267" y="0"/>
                  </a:lnTo>
                  <a:cubicBezTo>
                    <a:pt x="3924808" y="0"/>
                    <a:pt x="3933317" y="8509"/>
                    <a:pt x="3933317" y="19050"/>
                  </a:cubicBezTo>
                  <a:lnTo>
                    <a:pt x="3933317" y="2302891"/>
                  </a:lnTo>
                  <a:cubicBezTo>
                    <a:pt x="3933317" y="2313432"/>
                    <a:pt x="3924808" y="2321941"/>
                    <a:pt x="3914267" y="2321941"/>
                  </a:cubicBezTo>
                  <a:lnTo>
                    <a:pt x="19050" y="2321941"/>
                  </a:lnTo>
                  <a:cubicBezTo>
                    <a:pt x="8509" y="2321941"/>
                    <a:pt x="0" y="2313432"/>
                    <a:pt x="0" y="2302891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302891"/>
                  </a:lnTo>
                  <a:lnTo>
                    <a:pt x="19050" y="2302891"/>
                  </a:lnTo>
                  <a:lnTo>
                    <a:pt x="19050" y="2283841"/>
                  </a:lnTo>
                  <a:lnTo>
                    <a:pt x="3914267" y="2283841"/>
                  </a:lnTo>
                  <a:lnTo>
                    <a:pt x="3914267" y="2302891"/>
                  </a:lnTo>
                  <a:lnTo>
                    <a:pt x="3895217" y="2302891"/>
                  </a:lnTo>
                  <a:lnTo>
                    <a:pt x="3895217" y="19050"/>
                  </a:lnTo>
                  <a:lnTo>
                    <a:pt x="3914267" y="19050"/>
                  </a:lnTo>
                  <a:lnTo>
                    <a:pt x="391426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3933304" cy="2312416"/>
            </a:xfrm>
            <a:prstGeom prst="rect">
              <a:avLst/>
            </a:prstGeom>
          </p:spPr>
          <p:txBody>
            <a:bodyPr anchor="t" rtlCol="false" tIns="29700" lIns="29700" bIns="29700" rIns="2970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0F4761"/>
                  </a:solidFill>
                  <a:latin typeface="Aptos"/>
                  <a:ea typeface="Aptos"/>
                  <a:cs typeface="Aptos"/>
                  <a:sym typeface="Aptos"/>
                </a:rPr>
                <a:t>Datos de clientes con ubicación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527285" y="4715906"/>
            <a:ext cx="1724692" cy="673379"/>
            <a:chOff x="0" y="0"/>
            <a:chExt cx="3933304" cy="15356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3895217" cy="1497584"/>
            </a:xfrm>
            <a:custGeom>
              <a:avLst/>
              <a:gdLst/>
              <a:ahLst/>
              <a:cxnLst/>
              <a:rect r="r" b="b" t="t" l="l"/>
              <a:pathLst>
                <a:path h="1497584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1497584"/>
                  </a:lnTo>
                  <a:lnTo>
                    <a:pt x="0" y="14975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486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3317" cy="1535684"/>
            </a:xfrm>
            <a:custGeom>
              <a:avLst/>
              <a:gdLst/>
              <a:ahLst/>
              <a:cxnLst/>
              <a:rect r="r" b="b" t="t" l="l"/>
              <a:pathLst>
                <a:path h="1535684" w="3933317">
                  <a:moveTo>
                    <a:pt x="19050" y="0"/>
                  </a:moveTo>
                  <a:lnTo>
                    <a:pt x="3914267" y="0"/>
                  </a:lnTo>
                  <a:cubicBezTo>
                    <a:pt x="3924808" y="0"/>
                    <a:pt x="3933317" y="8509"/>
                    <a:pt x="3933317" y="19050"/>
                  </a:cubicBezTo>
                  <a:lnTo>
                    <a:pt x="3933317" y="1516634"/>
                  </a:lnTo>
                  <a:cubicBezTo>
                    <a:pt x="3933317" y="1527175"/>
                    <a:pt x="3924808" y="1535684"/>
                    <a:pt x="3914267" y="1535684"/>
                  </a:cubicBezTo>
                  <a:lnTo>
                    <a:pt x="19050" y="1535684"/>
                  </a:lnTo>
                  <a:cubicBezTo>
                    <a:pt x="8509" y="1535684"/>
                    <a:pt x="0" y="1527175"/>
                    <a:pt x="0" y="151663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16634"/>
                  </a:lnTo>
                  <a:lnTo>
                    <a:pt x="19050" y="1516634"/>
                  </a:lnTo>
                  <a:lnTo>
                    <a:pt x="19050" y="1497584"/>
                  </a:lnTo>
                  <a:lnTo>
                    <a:pt x="3914267" y="1497584"/>
                  </a:lnTo>
                  <a:lnTo>
                    <a:pt x="3914267" y="1516634"/>
                  </a:lnTo>
                  <a:lnTo>
                    <a:pt x="3895217" y="1516634"/>
                  </a:lnTo>
                  <a:lnTo>
                    <a:pt x="3895217" y="19050"/>
                  </a:lnTo>
                  <a:lnTo>
                    <a:pt x="3914267" y="19050"/>
                  </a:lnTo>
                  <a:lnTo>
                    <a:pt x="391426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3933304" cy="1507122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2462"/>
                </a:lnSpc>
              </a:pPr>
              <a:r>
                <a:rPr lang="en-US" sz="228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Potencial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27285" y="5372585"/>
            <a:ext cx="1724692" cy="1018135"/>
            <a:chOff x="0" y="0"/>
            <a:chExt cx="3933304" cy="23219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9050" y="19050"/>
              <a:ext cx="3895217" cy="2283841"/>
            </a:xfrm>
            <a:custGeom>
              <a:avLst/>
              <a:gdLst/>
              <a:ahLst/>
              <a:cxnLst/>
              <a:rect r="r" b="b" t="t" l="l"/>
              <a:pathLst>
                <a:path h="2283841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2283841"/>
                  </a:lnTo>
                  <a:lnTo>
                    <a:pt x="0" y="2283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33317" cy="2321941"/>
            </a:xfrm>
            <a:custGeom>
              <a:avLst/>
              <a:gdLst/>
              <a:ahLst/>
              <a:cxnLst/>
              <a:rect r="r" b="b" t="t" l="l"/>
              <a:pathLst>
                <a:path h="2321941" w="3933317">
                  <a:moveTo>
                    <a:pt x="19050" y="0"/>
                  </a:moveTo>
                  <a:lnTo>
                    <a:pt x="3914267" y="0"/>
                  </a:lnTo>
                  <a:cubicBezTo>
                    <a:pt x="3924808" y="0"/>
                    <a:pt x="3933317" y="8509"/>
                    <a:pt x="3933317" y="19050"/>
                  </a:cubicBezTo>
                  <a:lnTo>
                    <a:pt x="3933317" y="2302891"/>
                  </a:lnTo>
                  <a:cubicBezTo>
                    <a:pt x="3933317" y="2313432"/>
                    <a:pt x="3924808" y="2321941"/>
                    <a:pt x="3914267" y="2321941"/>
                  </a:cubicBezTo>
                  <a:lnTo>
                    <a:pt x="19050" y="2321941"/>
                  </a:lnTo>
                  <a:cubicBezTo>
                    <a:pt x="8509" y="2321941"/>
                    <a:pt x="0" y="2313432"/>
                    <a:pt x="0" y="2302891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302891"/>
                  </a:lnTo>
                  <a:lnTo>
                    <a:pt x="19050" y="2302891"/>
                  </a:lnTo>
                  <a:lnTo>
                    <a:pt x="19050" y="2283841"/>
                  </a:lnTo>
                  <a:lnTo>
                    <a:pt x="3914267" y="2283841"/>
                  </a:lnTo>
                  <a:lnTo>
                    <a:pt x="3914267" y="2302891"/>
                  </a:lnTo>
                  <a:lnTo>
                    <a:pt x="3895217" y="2302891"/>
                  </a:lnTo>
                  <a:lnTo>
                    <a:pt x="3895217" y="19050"/>
                  </a:lnTo>
                  <a:lnTo>
                    <a:pt x="3914267" y="19050"/>
                  </a:lnTo>
                  <a:lnTo>
                    <a:pt x="391426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3933304" cy="2312416"/>
            </a:xfrm>
            <a:prstGeom prst="rect">
              <a:avLst/>
            </a:prstGeom>
          </p:spPr>
          <p:txBody>
            <a:bodyPr anchor="t" rtlCol="false" tIns="29700" lIns="29700" bIns="29700" rIns="2970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0F4761"/>
                  </a:solidFill>
                  <a:latin typeface="Aptos"/>
                  <a:ea typeface="Aptos"/>
                  <a:cs typeface="Aptos"/>
                  <a:sym typeface="Aptos"/>
                </a:rPr>
                <a:t>Potencial de compra por cliente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88864" y="2213188"/>
            <a:ext cx="1707986" cy="656673"/>
            <a:chOff x="0" y="0"/>
            <a:chExt cx="3895204" cy="14975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95217" cy="1497584"/>
            </a:xfrm>
            <a:custGeom>
              <a:avLst/>
              <a:gdLst/>
              <a:ahLst/>
              <a:cxnLst/>
              <a:rect r="r" b="b" t="t" l="l"/>
              <a:pathLst>
                <a:path h="1497584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1497584"/>
                  </a:lnTo>
                  <a:lnTo>
                    <a:pt x="0" y="14975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D8C">
                <a:alpha val="56078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28575"/>
              <a:ext cx="3895204" cy="1469022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2462"/>
                </a:lnSpc>
              </a:pPr>
              <a:r>
                <a:rPr lang="en-US" sz="228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Campañas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288864" y="2869860"/>
            <a:ext cx="1707986" cy="1001428"/>
            <a:chOff x="0" y="0"/>
            <a:chExt cx="3895204" cy="228384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95217" cy="2283841"/>
            </a:xfrm>
            <a:custGeom>
              <a:avLst/>
              <a:gdLst/>
              <a:ahLst/>
              <a:cxnLst/>
              <a:rect r="r" b="b" t="t" l="l"/>
              <a:pathLst>
                <a:path h="2283841" w="3895217">
                  <a:moveTo>
                    <a:pt x="0" y="0"/>
                  </a:moveTo>
                  <a:lnTo>
                    <a:pt x="3895217" y="0"/>
                  </a:lnTo>
                  <a:lnTo>
                    <a:pt x="3895217" y="2283841"/>
                  </a:lnTo>
                  <a:lnTo>
                    <a:pt x="0" y="2283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D2D8">
                <a:alpha val="80784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3895204" cy="2274316"/>
            </a:xfrm>
            <a:prstGeom prst="rect">
              <a:avLst/>
            </a:prstGeom>
          </p:spPr>
          <p:txBody>
            <a:bodyPr anchor="t" rtlCol="false" tIns="29700" lIns="29700" bIns="29700" rIns="29700"/>
            <a:lstStyle/>
            <a:p>
              <a:pPr algn="ctr">
                <a:lnSpc>
                  <a:spcPts val="1704"/>
                </a:lnSpc>
              </a:pPr>
              <a:r>
                <a:rPr lang="en-US" sz="1578">
                  <a:solidFill>
                    <a:srgbClr val="0F4761"/>
                  </a:solidFill>
                  <a:latin typeface="Aptos"/>
                  <a:ea typeface="Aptos"/>
                  <a:cs typeface="Aptos"/>
                  <a:sym typeface="Aptos"/>
                </a:rPr>
                <a:t>Detalles de las campañas promocionales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02810" y="3214544"/>
            <a:ext cx="2440661" cy="1433402"/>
            <a:chOff x="0" y="0"/>
            <a:chExt cx="5566131" cy="32689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566126" cy="3268994"/>
            </a:xfrm>
            <a:custGeom>
              <a:avLst/>
              <a:gdLst/>
              <a:ahLst/>
              <a:cxnLst/>
              <a:rect r="r" b="b" t="t" l="l"/>
              <a:pathLst>
                <a:path h="3268994" w="5566126">
                  <a:moveTo>
                    <a:pt x="0" y="0"/>
                  </a:moveTo>
                  <a:lnTo>
                    <a:pt x="5566126" y="0"/>
                  </a:lnTo>
                  <a:lnTo>
                    <a:pt x="5566126" y="3268994"/>
                  </a:lnTo>
                  <a:lnTo>
                    <a:pt x="0" y="32689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352" t="0" r="-2535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47625"/>
              <a:ext cx="5566131" cy="3221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67"/>
                </a:lnSpc>
              </a:pPr>
              <a:r>
                <a:rPr lang="en-US" sz="3858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Datasets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4107376" y="1903810"/>
            <a:ext cx="1800444" cy="27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578" b="true">
                <a:solidFill>
                  <a:srgbClr val="3A3A3A"/>
                </a:solidFill>
                <a:latin typeface="Aptos Bold"/>
                <a:ea typeface="Aptos Bold"/>
                <a:cs typeface="Aptos Bold"/>
                <a:sym typeface="Aptos Bold"/>
              </a:rPr>
              <a:t>Dato transaccional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814599" y="4282329"/>
            <a:ext cx="1521260" cy="27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578" b="true">
                <a:solidFill>
                  <a:srgbClr val="3A3A3A"/>
                </a:solidFill>
                <a:latin typeface="Aptos Bold"/>
                <a:ea typeface="Aptos Bold"/>
                <a:cs typeface="Aptos Bold"/>
                <a:sym typeface="Aptos Bold"/>
              </a:rPr>
              <a:t>Dato contextual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3778920" y="1847482"/>
            <a:ext cx="2457367" cy="2257582"/>
            <a:chOff x="0" y="0"/>
            <a:chExt cx="5604231" cy="514860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04256" cy="5148580"/>
            </a:xfrm>
            <a:custGeom>
              <a:avLst/>
              <a:gdLst/>
              <a:ahLst/>
              <a:cxnLst/>
              <a:rect r="r" b="b" t="t" l="l"/>
              <a:pathLst>
                <a:path h="5148580" w="5604256">
                  <a:moveTo>
                    <a:pt x="0" y="342138"/>
                  </a:moveTo>
                  <a:cubicBezTo>
                    <a:pt x="0" y="153162"/>
                    <a:pt x="153289" y="0"/>
                    <a:pt x="342392" y="0"/>
                  </a:cubicBezTo>
                  <a:lnTo>
                    <a:pt x="5261864" y="0"/>
                  </a:lnTo>
                  <a:lnTo>
                    <a:pt x="5261864" y="19050"/>
                  </a:lnTo>
                  <a:lnTo>
                    <a:pt x="5261864" y="0"/>
                  </a:lnTo>
                  <a:cubicBezTo>
                    <a:pt x="5450967" y="0"/>
                    <a:pt x="5604256" y="153162"/>
                    <a:pt x="5604256" y="342138"/>
                  </a:cubicBezTo>
                  <a:lnTo>
                    <a:pt x="5585206" y="342138"/>
                  </a:lnTo>
                  <a:lnTo>
                    <a:pt x="5604256" y="342138"/>
                  </a:lnTo>
                  <a:lnTo>
                    <a:pt x="5604256" y="4806442"/>
                  </a:lnTo>
                  <a:lnTo>
                    <a:pt x="5585206" y="4806442"/>
                  </a:lnTo>
                  <a:lnTo>
                    <a:pt x="5604256" y="4806442"/>
                  </a:lnTo>
                  <a:cubicBezTo>
                    <a:pt x="5604256" y="4995418"/>
                    <a:pt x="5450967" y="5148580"/>
                    <a:pt x="5261864" y="5148580"/>
                  </a:cubicBezTo>
                  <a:lnTo>
                    <a:pt x="5261864" y="5129530"/>
                  </a:lnTo>
                  <a:lnTo>
                    <a:pt x="5261864" y="5148580"/>
                  </a:lnTo>
                  <a:lnTo>
                    <a:pt x="342392" y="5148580"/>
                  </a:lnTo>
                  <a:lnTo>
                    <a:pt x="342392" y="5129530"/>
                  </a:lnTo>
                  <a:lnTo>
                    <a:pt x="342392" y="5148580"/>
                  </a:lnTo>
                  <a:cubicBezTo>
                    <a:pt x="153289" y="5148580"/>
                    <a:pt x="0" y="4995418"/>
                    <a:pt x="0" y="4806442"/>
                  </a:cubicBezTo>
                  <a:lnTo>
                    <a:pt x="0" y="342138"/>
                  </a:lnTo>
                  <a:lnTo>
                    <a:pt x="19050" y="342138"/>
                  </a:lnTo>
                  <a:lnTo>
                    <a:pt x="0" y="342138"/>
                  </a:lnTo>
                  <a:moveTo>
                    <a:pt x="38100" y="342138"/>
                  </a:moveTo>
                  <a:lnTo>
                    <a:pt x="38100" y="4806442"/>
                  </a:lnTo>
                  <a:lnTo>
                    <a:pt x="19050" y="4806442"/>
                  </a:lnTo>
                  <a:lnTo>
                    <a:pt x="38100" y="4806442"/>
                  </a:lnTo>
                  <a:cubicBezTo>
                    <a:pt x="38100" y="4974336"/>
                    <a:pt x="174371" y="5110480"/>
                    <a:pt x="342392" y="5110480"/>
                  </a:cubicBezTo>
                  <a:lnTo>
                    <a:pt x="5261864" y="5110480"/>
                  </a:lnTo>
                  <a:cubicBezTo>
                    <a:pt x="5429885" y="5110480"/>
                    <a:pt x="5566156" y="4974336"/>
                    <a:pt x="5566156" y="4806442"/>
                  </a:cubicBezTo>
                  <a:lnTo>
                    <a:pt x="5566156" y="342138"/>
                  </a:lnTo>
                  <a:cubicBezTo>
                    <a:pt x="5566156" y="174244"/>
                    <a:pt x="5429885" y="38100"/>
                    <a:pt x="5261864" y="38100"/>
                  </a:cubicBezTo>
                  <a:lnTo>
                    <a:pt x="342392" y="38100"/>
                  </a:lnTo>
                  <a:lnTo>
                    <a:pt x="342392" y="19050"/>
                  </a:lnTo>
                  <a:lnTo>
                    <a:pt x="342392" y="38100"/>
                  </a:lnTo>
                  <a:cubicBezTo>
                    <a:pt x="174371" y="38100"/>
                    <a:pt x="38100" y="174244"/>
                    <a:pt x="38100" y="342138"/>
                  </a:cubicBezTo>
                  <a:close/>
                </a:path>
              </a:pathLst>
            </a:custGeom>
            <a:solidFill>
              <a:srgbClr val="74747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778920" y="4191269"/>
            <a:ext cx="5592623" cy="2379326"/>
            <a:chOff x="0" y="0"/>
            <a:chExt cx="12754445" cy="542625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754483" cy="5426329"/>
            </a:xfrm>
            <a:custGeom>
              <a:avLst/>
              <a:gdLst/>
              <a:ahLst/>
              <a:cxnLst/>
              <a:rect r="r" b="b" t="t" l="l"/>
              <a:pathLst>
                <a:path h="5426329" w="12754483">
                  <a:moveTo>
                    <a:pt x="0" y="359791"/>
                  </a:moveTo>
                  <a:cubicBezTo>
                    <a:pt x="0" y="161036"/>
                    <a:pt x="161798" y="0"/>
                    <a:pt x="361188" y="0"/>
                  </a:cubicBezTo>
                  <a:lnTo>
                    <a:pt x="12393295" y="0"/>
                  </a:lnTo>
                  <a:lnTo>
                    <a:pt x="12393295" y="19050"/>
                  </a:lnTo>
                  <a:lnTo>
                    <a:pt x="12393295" y="0"/>
                  </a:lnTo>
                  <a:cubicBezTo>
                    <a:pt x="12592685" y="0"/>
                    <a:pt x="12754483" y="161036"/>
                    <a:pt x="12754483" y="359791"/>
                  </a:cubicBezTo>
                  <a:lnTo>
                    <a:pt x="12735433" y="359791"/>
                  </a:lnTo>
                  <a:lnTo>
                    <a:pt x="12754483" y="359791"/>
                  </a:lnTo>
                  <a:lnTo>
                    <a:pt x="12754483" y="5066538"/>
                  </a:lnTo>
                  <a:lnTo>
                    <a:pt x="12735433" y="5066538"/>
                  </a:lnTo>
                  <a:lnTo>
                    <a:pt x="12754483" y="5066538"/>
                  </a:lnTo>
                  <a:cubicBezTo>
                    <a:pt x="12754483" y="5265293"/>
                    <a:pt x="12592685" y="5426329"/>
                    <a:pt x="12393295" y="5426329"/>
                  </a:cubicBezTo>
                  <a:lnTo>
                    <a:pt x="12393295" y="5407279"/>
                  </a:lnTo>
                  <a:lnTo>
                    <a:pt x="12393295" y="5426329"/>
                  </a:lnTo>
                  <a:lnTo>
                    <a:pt x="361188" y="5426329"/>
                  </a:lnTo>
                  <a:lnTo>
                    <a:pt x="361188" y="5407279"/>
                  </a:lnTo>
                  <a:lnTo>
                    <a:pt x="361188" y="5426329"/>
                  </a:lnTo>
                  <a:cubicBezTo>
                    <a:pt x="161798" y="5426202"/>
                    <a:pt x="0" y="5265293"/>
                    <a:pt x="0" y="5066538"/>
                  </a:cubicBezTo>
                  <a:lnTo>
                    <a:pt x="0" y="359791"/>
                  </a:lnTo>
                  <a:lnTo>
                    <a:pt x="19050" y="359791"/>
                  </a:lnTo>
                  <a:lnTo>
                    <a:pt x="0" y="359791"/>
                  </a:lnTo>
                  <a:moveTo>
                    <a:pt x="38100" y="359791"/>
                  </a:moveTo>
                  <a:lnTo>
                    <a:pt x="38100" y="5066538"/>
                  </a:lnTo>
                  <a:lnTo>
                    <a:pt x="19050" y="5066538"/>
                  </a:lnTo>
                  <a:lnTo>
                    <a:pt x="38100" y="5066538"/>
                  </a:lnTo>
                  <a:cubicBezTo>
                    <a:pt x="38100" y="5244084"/>
                    <a:pt x="182626" y="5388229"/>
                    <a:pt x="361188" y="5388229"/>
                  </a:cubicBezTo>
                  <a:lnTo>
                    <a:pt x="12393295" y="5388229"/>
                  </a:lnTo>
                  <a:cubicBezTo>
                    <a:pt x="12571730" y="5388229"/>
                    <a:pt x="12716383" y="5244211"/>
                    <a:pt x="12716383" y="5066538"/>
                  </a:cubicBezTo>
                  <a:lnTo>
                    <a:pt x="12716383" y="359791"/>
                  </a:lnTo>
                  <a:cubicBezTo>
                    <a:pt x="12716383" y="182118"/>
                    <a:pt x="12571730" y="38100"/>
                    <a:pt x="12393295" y="38100"/>
                  </a:cubicBezTo>
                  <a:lnTo>
                    <a:pt x="361188" y="38100"/>
                  </a:lnTo>
                  <a:lnTo>
                    <a:pt x="361188" y="19050"/>
                  </a:lnTo>
                  <a:lnTo>
                    <a:pt x="361188" y="38100"/>
                  </a:lnTo>
                  <a:cubicBezTo>
                    <a:pt x="182626" y="38100"/>
                    <a:pt x="38100" y="182118"/>
                    <a:pt x="38100" y="359791"/>
                  </a:cubicBezTo>
                  <a:close/>
                </a:path>
              </a:pathLst>
            </a:custGeom>
            <a:solidFill>
              <a:srgbClr val="747474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7373654" y="1903810"/>
            <a:ext cx="1538406" cy="27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578" b="true">
                <a:solidFill>
                  <a:srgbClr val="3A3A3A"/>
                </a:solidFill>
                <a:latin typeface="Aptos Bold"/>
                <a:ea typeface="Aptos Bold"/>
                <a:cs typeface="Aptos Bold"/>
                <a:sym typeface="Aptos Bold"/>
              </a:rPr>
              <a:t>Dato explicativo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914177" y="1847482"/>
            <a:ext cx="2457367" cy="2227984"/>
            <a:chOff x="0" y="0"/>
            <a:chExt cx="5604231" cy="508110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04256" cy="5081143"/>
            </a:xfrm>
            <a:custGeom>
              <a:avLst/>
              <a:gdLst/>
              <a:ahLst/>
              <a:cxnLst/>
              <a:rect r="r" b="b" t="t" l="l"/>
              <a:pathLst>
                <a:path h="5081143" w="5604256">
                  <a:moveTo>
                    <a:pt x="0" y="337947"/>
                  </a:moveTo>
                  <a:cubicBezTo>
                    <a:pt x="0" y="151257"/>
                    <a:pt x="151384" y="0"/>
                    <a:pt x="338201" y="0"/>
                  </a:cubicBezTo>
                  <a:lnTo>
                    <a:pt x="5266055" y="0"/>
                  </a:lnTo>
                  <a:lnTo>
                    <a:pt x="5266055" y="19050"/>
                  </a:lnTo>
                  <a:lnTo>
                    <a:pt x="5266055" y="0"/>
                  </a:lnTo>
                  <a:cubicBezTo>
                    <a:pt x="5452745" y="0"/>
                    <a:pt x="5604256" y="151257"/>
                    <a:pt x="5604256" y="337947"/>
                  </a:cubicBezTo>
                  <a:lnTo>
                    <a:pt x="5585206" y="337947"/>
                  </a:lnTo>
                  <a:lnTo>
                    <a:pt x="5604256" y="337947"/>
                  </a:lnTo>
                  <a:lnTo>
                    <a:pt x="5604256" y="4743196"/>
                  </a:lnTo>
                  <a:lnTo>
                    <a:pt x="5585206" y="4743196"/>
                  </a:lnTo>
                  <a:lnTo>
                    <a:pt x="5604256" y="4743196"/>
                  </a:lnTo>
                  <a:cubicBezTo>
                    <a:pt x="5604256" y="4929886"/>
                    <a:pt x="5452872" y="5081143"/>
                    <a:pt x="5266055" y="5081143"/>
                  </a:cubicBezTo>
                  <a:lnTo>
                    <a:pt x="5266055" y="5062093"/>
                  </a:lnTo>
                  <a:lnTo>
                    <a:pt x="5266055" y="5081143"/>
                  </a:lnTo>
                  <a:lnTo>
                    <a:pt x="338201" y="5081143"/>
                  </a:lnTo>
                  <a:lnTo>
                    <a:pt x="338201" y="5062093"/>
                  </a:lnTo>
                  <a:lnTo>
                    <a:pt x="338201" y="5081143"/>
                  </a:lnTo>
                  <a:cubicBezTo>
                    <a:pt x="151384" y="5081143"/>
                    <a:pt x="0" y="4929886"/>
                    <a:pt x="0" y="4743196"/>
                  </a:cubicBezTo>
                  <a:lnTo>
                    <a:pt x="0" y="337947"/>
                  </a:lnTo>
                  <a:lnTo>
                    <a:pt x="19050" y="337947"/>
                  </a:lnTo>
                  <a:lnTo>
                    <a:pt x="0" y="337947"/>
                  </a:lnTo>
                  <a:moveTo>
                    <a:pt x="38100" y="337947"/>
                  </a:moveTo>
                  <a:lnTo>
                    <a:pt x="38100" y="4743196"/>
                  </a:lnTo>
                  <a:lnTo>
                    <a:pt x="19050" y="4743196"/>
                  </a:lnTo>
                  <a:lnTo>
                    <a:pt x="38100" y="4743196"/>
                  </a:lnTo>
                  <a:cubicBezTo>
                    <a:pt x="38100" y="4908804"/>
                    <a:pt x="172466" y="5043043"/>
                    <a:pt x="338201" y="5043043"/>
                  </a:cubicBezTo>
                  <a:lnTo>
                    <a:pt x="5266055" y="5043043"/>
                  </a:lnTo>
                  <a:cubicBezTo>
                    <a:pt x="5431790" y="5043043"/>
                    <a:pt x="5566156" y="4908804"/>
                    <a:pt x="5566156" y="4743196"/>
                  </a:cubicBezTo>
                  <a:lnTo>
                    <a:pt x="5566156" y="337947"/>
                  </a:lnTo>
                  <a:cubicBezTo>
                    <a:pt x="5566156" y="172339"/>
                    <a:pt x="5431790" y="38100"/>
                    <a:pt x="5266055" y="38100"/>
                  </a:cubicBezTo>
                  <a:lnTo>
                    <a:pt x="338201" y="38100"/>
                  </a:lnTo>
                  <a:lnTo>
                    <a:pt x="338201" y="19050"/>
                  </a:lnTo>
                  <a:lnTo>
                    <a:pt x="338201" y="38100"/>
                  </a:lnTo>
                  <a:cubicBezTo>
                    <a:pt x="172466" y="38100"/>
                    <a:pt x="38100" y="172339"/>
                    <a:pt x="38100" y="337947"/>
                  </a:cubicBezTo>
                  <a:close/>
                </a:path>
              </a:pathLst>
            </a:custGeom>
            <a:solidFill>
              <a:srgbClr val="747474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581076" y="833034"/>
            <a:ext cx="1844053" cy="748529"/>
            <a:chOff x="0" y="0"/>
            <a:chExt cx="4205516" cy="1707083"/>
          </a:xfrm>
        </p:grpSpPr>
        <p:sp>
          <p:nvSpPr>
            <p:cNvPr name="Freeform 55" id="55" descr="AF-INIBSA-Logotipo-RGB.png"/>
            <p:cNvSpPr/>
            <p:nvPr/>
          </p:nvSpPr>
          <p:spPr>
            <a:xfrm flipH="false" flipV="false" rot="0">
              <a:off x="0" y="0"/>
              <a:ext cx="4205478" cy="1707134"/>
            </a:xfrm>
            <a:custGeom>
              <a:avLst/>
              <a:gdLst/>
              <a:ahLst/>
              <a:cxnLst/>
              <a:rect r="r" b="b" t="t" l="l"/>
              <a:pathLst>
                <a:path h="1707134" w="4205478">
                  <a:moveTo>
                    <a:pt x="0" y="0"/>
                  </a:moveTo>
                  <a:lnTo>
                    <a:pt x="4205478" y="0"/>
                  </a:lnTo>
                  <a:lnTo>
                    <a:pt x="4205478" y="1707134"/>
                  </a:lnTo>
                  <a:lnTo>
                    <a:pt x="0" y="1707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49" r="-22452" b="-5487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79557"/>
            <a:ext cx="10692000" cy="6000885"/>
          </a:xfrm>
          <a:custGeom>
            <a:avLst/>
            <a:gdLst/>
            <a:ahLst/>
            <a:cxnLst/>
            <a:rect r="r" b="b" t="t" l="l"/>
            <a:pathLst>
              <a:path h="6000885" w="10692000">
                <a:moveTo>
                  <a:pt x="0" y="0"/>
                </a:moveTo>
                <a:lnTo>
                  <a:pt x="10692000" y="0"/>
                </a:lnTo>
                <a:lnTo>
                  <a:pt x="10692000" y="6000885"/>
                </a:lnTo>
                <a:lnTo>
                  <a:pt x="0" y="600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5075" y="1093078"/>
            <a:ext cx="9221850" cy="1162477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031200" cy="260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8"/>
                </a:lnSpc>
              </a:pPr>
              <a:r>
                <a:rPr lang="en-US" sz="3507">
                  <a:solidFill>
                    <a:srgbClr val="0F4761"/>
                  </a:solidFill>
                  <a:latin typeface="Noto Sans"/>
                  <a:ea typeface="Noto Sans"/>
                  <a:cs typeface="Noto Sans"/>
                  <a:sym typeface="Noto Sans"/>
                </a:rPr>
                <a:t>Errores a evitar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81076" y="833034"/>
            <a:ext cx="1844053" cy="748529"/>
            <a:chOff x="0" y="0"/>
            <a:chExt cx="4205516" cy="1707083"/>
          </a:xfrm>
        </p:grpSpPr>
        <p:sp>
          <p:nvSpPr>
            <p:cNvPr name="Freeform 6" id="6" descr="AF-INIBSA-Logotipo-RGB.png"/>
            <p:cNvSpPr/>
            <p:nvPr/>
          </p:nvSpPr>
          <p:spPr>
            <a:xfrm flipH="false" flipV="false" rot="0">
              <a:off x="0" y="0"/>
              <a:ext cx="4205478" cy="1707134"/>
            </a:xfrm>
            <a:custGeom>
              <a:avLst/>
              <a:gdLst/>
              <a:ahLst/>
              <a:cxnLst/>
              <a:rect r="r" b="b" t="t" l="l"/>
              <a:pathLst>
                <a:path h="1707134" w="4205478">
                  <a:moveTo>
                    <a:pt x="0" y="0"/>
                  </a:moveTo>
                  <a:lnTo>
                    <a:pt x="4205478" y="0"/>
                  </a:lnTo>
                  <a:lnTo>
                    <a:pt x="4205478" y="1707134"/>
                  </a:lnTo>
                  <a:lnTo>
                    <a:pt x="0" y="1707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49" r="-22452" b="-5487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57935" y="2282285"/>
            <a:ext cx="7198389" cy="296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81" b="true">
                <a:solidFill>
                  <a:srgbClr val="3A3A3A"/>
                </a:solidFill>
                <a:latin typeface="Aptos Bold"/>
                <a:ea typeface="Aptos Bold"/>
                <a:cs typeface="Aptos Bold"/>
                <a:sym typeface="Aptos Bold"/>
              </a:rPr>
              <a:t>Errores de interpretación</a:t>
            </a:r>
          </a:p>
          <a:p>
            <a:pPr algn="l" marL="394804" indent="-197402" lvl="1">
              <a:lnSpc>
                <a:spcPts val="2617"/>
              </a:lnSpc>
              <a:buFont typeface="Arial"/>
              <a:buChar char="•"/>
            </a:pPr>
            <a:r>
              <a:rPr lang="en-US" sz="2181">
                <a:solidFill>
                  <a:srgbClr val="3A3A3A"/>
                </a:solidFill>
                <a:latin typeface="Aptos"/>
                <a:ea typeface="Aptos"/>
                <a:cs typeface="Aptos"/>
                <a:sym typeface="Aptos"/>
              </a:rPr>
              <a:t>No observamos directamente la compra a competencia o vía canales indirectos. </a:t>
            </a:r>
          </a:p>
          <a:p>
            <a:pPr algn="l" marL="394804" indent="-197402" lvl="1">
              <a:lnSpc>
                <a:spcPts val="2617"/>
              </a:lnSpc>
              <a:buFont typeface="Arial"/>
              <a:buChar char="•"/>
            </a:pPr>
            <a:r>
              <a:rPr lang="en-US" sz="2181">
                <a:solidFill>
                  <a:srgbClr val="3A3A3A"/>
                </a:solidFill>
                <a:latin typeface="Aptos"/>
                <a:ea typeface="Aptos"/>
                <a:cs typeface="Aptos"/>
                <a:sym typeface="Aptos"/>
              </a:rPr>
              <a:t>No todos los silencios de compra significan fuga. </a:t>
            </a:r>
          </a:p>
          <a:p>
            <a:pPr algn="l" marL="394804" indent="-197402" lvl="1">
              <a:lnSpc>
                <a:spcPts val="2617"/>
              </a:lnSpc>
            </a:pPr>
            <a:r>
              <a:rPr lang="en-US" b="true" sz="2181">
                <a:solidFill>
                  <a:srgbClr val="3A3A3A"/>
                </a:solidFill>
                <a:latin typeface="Aptos Bold"/>
                <a:ea typeface="Aptos Bold"/>
                <a:cs typeface="Aptos Bold"/>
                <a:sym typeface="Aptos Bold"/>
              </a:rPr>
              <a:t>Errores de diseño de solución</a:t>
            </a:r>
          </a:p>
          <a:p>
            <a:pPr algn="l" marL="394804" indent="-197402" lvl="1">
              <a:lnSpc>
                <a:spcPts val="2617"/>
              </a:lnSpc>
              <a:buFont typeface="Arial"/>
              <a:buChar char="•"/>
            </a:pPr>
            <a:r>
              <a:rPr lang="en-US" sz="2181">
                <a:solidFill>
                  <a:srgbClr val="3A3A3A"/>
                </a:solidFill>
                <a:latin typeface="Aptos"/>
                <a:ea typeface="Aptos"/>
                <a:cs typeface="Aptos"/>
                <a:sym typeface="Aptos"/>
              </a:rPr>
              <a:t>Una alerta sin explicación o priorización no sirve. </a:t>
            </a:r>
          </a:p>
          <a:p>
            <a:pPr algn="l" marL="394804" indent="-197402" lvl="1">
              <a:lnSpc>
                <a:spcPts val="2617"/>
              </a:lnSpc>
            </a:pPr>
            <a:r>
              <a:rPr lang="en-US" b="true" sz="2181">
                <a:solidFill>
                  <a:srgbClr val="3A3A3A"/>
                </a:solidFill>
                <a:latin typeface="Aptos Bold"/>
                <a:ea typeface="Aptos Bold"/>
                <a:cs typeface="Aptos Bold"/>
                <a:sym typeface="Aptos Bold"/>
              </a:rPr>
              <a:t>Errores de expectativa</a:t>
            </a:r>
          </a:p>
          <a:p>
            <a:pPr algn="l" marL="394804" indent="-197402" lvl="1">
              <a:lnSpc>
                <a:spcPts val="2617"/>
              </a:lnSpc>
              <a:buFont typeface="Arial"/>
              <a:buChar char="•"/>
            </a:pPr>
            <a:r>
              <a:rPr lang="en-US" sz="2181">
                <a:solidFill>
                  <a:srgbClr val="3A3A3A"/>
                </a:solidFill>
                <a:latin typeface="Aptos"/>
                <a:ea typeface="Aptos"/>
                <a:cs typeface="Aptos"/>
                <a:sym typeface="Aptos"/>
              </a:rPr>
              <a:t>No esperamos una implantación final cerrada, pero sí una solución plausible para uso real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828295" y="2613261"/>
            <a:ext cx="2710962" cy="2333479"/>
            <a:chOff x="0" y="0"/>
            <a:chExt cx="6182576" cy="5321694"/>
          </a:xfrm>
        </p:grpSpPr>
        <p:sp>
          <p:nvSpPr>
            <p:cNvPr name="Freeform 9" id="9" descr="Почему ошибаться можно | Управление изменениями | Бизнес-коуч Иван Жданов"/>
            <p:cNvSpPr/>
            <p:nvPr/>
          </p:nvSpPr>
          <p:spPr>
            <a:xfrm flipH="false" flipV="false" rot="0">
              <a:off x="0" y="0"/>
              <a:ext cx="6182614" cy="5321681"/>
            </a:xfrm>
            <a:custGeom>
              <a:avLst/>
              <a:gdLst/>
              <a:ahLst/>
              <a:cxnLst/>
              <a:rect r="r" b="b" t="t" l="l"/>
              <a:pathLst>
                <a:path h="5321681" w="6182614">
                  <a:moveTo>
                    <a:pt x="0" y="0"/>
                  </a:moveTo>
                  <a:lnTo>
                    <a:pt x="6182614" y="0"/>
                  </a:lnTo>
                  <a:lnTo>
                    <a:pt x="6182614" y="5321681"/>
                  </a:lnTo>
                  <a:lnTo>
                    <a:pt x="0" y="5321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617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5345" y="1077074"/>
            <a:ext cx="9246945" cy="1165640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261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8"/>
                </a:lnSpc>
              </a:pPr>
              <a:r>
                <a:rPr lang="en-US" sz="3507">
                  <a:solidFill>
                    <a:srgbClr val="156082"/>
                  </a:solidFill>
                  <a:latin typeface="Aptos"/>
                  <a:ea typeface="Aptos"/>
                  <a:cs typeface="Aptos"/>
                  <a:sym typeface="Aptos"/>
                </a:rPr>
                <a:t>Una buena propuesta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5790" y="2459910"/>
            <a:ext cx="6826401" cy="235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4197" indent="-167098" lvl="1">
              <a:lnSpc>
                <a:spcPts val="2127"/>
              </a:lnSpc>
              <a:buFont typeface="Arial"/>
              <a:buChar char="•"/>
            </a:pPr>
            <a:r>
              <a:rPr lang="en-US" b="true" sz="1846">
                <a:solidFill>
                  <a:srgbClr val="3A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Diferencia</a:t>
            </a: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 bien entre commodities y productos técnicos</a:t>
            </a:r>
          </a:p>
          <a:p>
            <a:pPr algn="l" marL="334197" indent="-167098" lvl="1">
              <a:lnSpc>
                <a:spcPts val="2127"/>
              </a:lnSpc>
              <a:buFont typeface="Arial"/>
              <a:buChar char="•"/>
            </a:pPr>
            <a:r>
              <a:rPr lang="en-US" b="true" sz="1846">
                <a:solidFill>
                  <a:srgbClr val="3A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Explica</a:t>
            </a: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 con claridad la lógica de las alertas</a:t>
            </a:r>
          </a:p>
          <a:p>
            <a:pPr algn="l" marL="334197" indent="-167098" lvl="1">
              <a:lnSpc>
                <a:spcPts val="2127"/>
              </a:lnSpc>
              <a:buFont typeface="Arial"/>
              <a:buChar char="•"/>
            </a:pP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Genera </a:t>
            </a:r>
            <a:r>
              <a:rPr lang="en-US" b="true" sz="1846">
                <a:solidFill>
                  <a:srgbClr val="3A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alertas</a:t>
            </a: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 trazables y priorizables</a:t>
            </a:r>
          </a:p>
          <a:p>
            <a:pPr algn="l" marL="334197" indent="-167098" lvl="1">
              <a:lnSpc>
                <a:spcPts val="2127"/>
              </a:lnSpc>
              <a:buFont typeface="Arial"/>
              <a:buChar char="•"/>
            </a:pP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Es </a:t>
            </a:r>
            <a:r>
              <a:rPr lang="en-US" b="true" sz="1846">
                <a:solidFill>
                  <a:srgbClr val="3A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operativa</a:t>
            </a: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 en un entorno comercial real</a:t>
            </a:r>
          </a:p>
          <a:p>
            <a:pPr algn="l" marL="334197" indent="-167098" lvl="1">
              <a:lnSpc>
                <a:spcPts val="2127"/>
              </a:lnSpc>
              <a:buFont typeface="Arial"/>
              <a:buChar char="•"/>
            </a:pP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Plantea una </a:t>
            </a:r>
            <a:r>
              <a:rPr lang="en-US" b="true" sz="1846">
                <a:solidFill>
                  <a:srgbClr val="3A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arquitectura</a:t>
            </a: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 mínima razonable </a:t>
            </a:r>
          </a:p>
          <a:p>
            <a:pPr algn="l" marL="334197" indent="-167098" lvl="1">
              <a:lnSpc>
                <a:spcPts val="2127"/>
              </a:lnSpc>
              <a:buFont typeface="Arial"/>
              <a:buChar char="•"/>
            </a:pP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Tiene </a:t>
            </a:r>
            <a:r>
              <a:rPr lang="en-US" b="true" sz="1846">
                <a:solidFill>
                  <a:srgbClr val="3A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evolución</a:t>
            </a:r>
            <a:r>
              <a:rPr lang="en-US" sz="1846">
                <a:solidFill>
                  <a:srgbClr val="3A3A3A"/>
                </a:solidFill>
                <a:latin typeface="Noto Sans"/>
                <a:ea typeface="Noto Sans"/>
                <a:cs typeface="Noto Sans"/>
                <a:sym typeface="Noto Sans"/>
              </a:rPr>
              <a:t> plausible hacia uso real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9557" y="5204998"/>
            <a:ext cx="7339813" cy="949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2455">
                <a:solidFill>
                  <a:srgbClr val="0F476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La clave no es la sofisticación técnica, </a:t>
            </a:r>
          </a:p>
          <a:p>
            <a:pPr algn="ctr">
              <a:lnSpc>
                <a:spcPts val="3535"/>
              </a:lnSpc>
            </a:pPr>
            <a:r>
              <a:rPr lang="en-US" b="true" sz="2455">
                <a:solidFill>
                  <a:srgbClr val="0F476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sino la utilidad analítica y comercial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68157" y="756000"/>
            <a:ext cx="2851208" cy="6030616"/>
            <a:chOff x="0" y="0"/>
            <a:chExt cx="6484772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8474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484747">
                  <a:moveTo>
                    <a:pt x="0" y="0"/>
                  </a:moveTo>
                  <a:lnTo>
                    <a:pt x="6484747" y="0"/>
                  </a:lnTo>
                  <a:lnTo>
                    <a:pt x="64847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60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50038" y="1071491"/>
            <a:ext cx="1406373" cy="426108"/>
            <a:chOff x="0" y="0"/>
            <a:chExt cx="3198647" cy="969137"/>
          </a:xfrm>
        </p:grpSpPr>
        <p:sp>
          <p:nvSpPr>
            <p:cNvPr name="Freeform 10" id="10" descr="Imagen"/>
            <p:cNvSpPr/>
            <p:nvPr/>
          </p:nvSpPr>
          <p:spPr>
            <a:xfrm flipH="false" flipV="false" rot="0">
              <a:off x="0" y="0"/>
              <a:ext cx="3198622" cy="969137"/>
            </a:xfrm>
            <a:custGeom>
              <a:avLst/>
              <a:gdLst/>
              <a:ahLst/>
              <a:cxnLst/>
              <a:rect r="r" b="b" t="t" l="l"/>
              <a:pathLst>
                <a:path h="969137" w="3198622">
                  <a:moveTo>
                    <a:pt x="0" y="0"/>
                  </a:moveTo>
                  <a:lnTo>
                    <a:pt x="3198622" y="0"/>
                  </a:lnTo>
                  <a:lnTo>
                    <a:pt x="3198622" y="969137"/>
                  </a:lnTo>
                  <a:lnTo>
                    <a:pt x="0" y="969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0" t="0" r="-16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84075" y="1981885"/>
            <a:ext cx="3102752" cy="477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9"/>
              </a:lnSpc>
            </a:pPr>
            <a:r>
              <a:rPr lang="en-US" sz="30249">
                <a:solidFill>
                  <a:srgbClr val="17688D"/>
                </a:solidFill>
                <a:latin typeface="Arimo"/>
                <a:ea typeface="Arimo"/>
                <a:cs typeface="Arimo"/>
                <a:sym typeface="Arimo"/>
              </a:rPr>
              <a:t>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62823" y="1915654"/>
            <a:ext cx="5058425" cy="5058425"/>
            <a:chOff x="0" y="0"/>
            <a:chExt cx="11504854" cy="115048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04803" cy="11504930"/>
            </a:xfrm>
            <a:custGeom>
              <a:avLst/>
              <a:gdLst/>
              <a:ahLst/>
              <a:cxnLst/>
              <a:rect r="r" b="b" t="t" l="l"/>
              <a:pathLst>
                <a:path h="11504930" w="11504803">
                  <a:moveTo>
                    <a:pt x="0" y="5752465"/>
                  </a:moveTo>
                  <a:cubicBezTo>
                    <a:pt x="0" y="2575433"/>
                    <a:pt x="2575433" y="0"/>
                    <a:pt x="5752465" y="0"/>
                  </a:cubicBezTo>
                  <a:lnTo>
                    <a:pt x="5752465" y="352425"/>
                  </a:lnTo>
                  <a:lnTo>
                    <a:pt x="5752465" y="0"/>
                  </a:lnTo>
                  <a:cubicBezTo>
                    <a:pt x="8929370" y="0"/>
                    <a:pt x="11504803" y="2575433"/>
                    <a:pt x="11504803" y="5752465"/>
                  </a:cubicBezTo>
                  <a:lnTo>
                    <a:pt x="11152378" y="5752465"/>
                  </a:lnTo>
                  <a:lnTo>
                    <a:pt x="11504803" y="5752465"/>
                  </a:lnTo>
                  <a:cubicBezTo>
                    <a:pt x="11504803" y="8929498"/>
                    <a:pt x="8929370" y="11504930"/>
                    <a:pt x="5752338" y="11504930"/>
                  </a:cubicBezTo>
                  <a:lnTo>
                    <a:pt x="5752338" y="11152378"/>
                  </a:lnTo>
                  <a:lnTo>
                    <a:pt x="5752338" y="11504803"/>
                  </a:lnTo>
                  <a:cubicBezTo>
                    <a:pt x="2575433" y="11504803"/>
                    <a:pt x="0" y="8929370"/>
                    <a:pt x="0" y="5752465"/>
                  </a:cubicBezTo>
                  <a:lnTo>
                    <a:pt x="352425" y="5752465"/>
                  </a:lnTo>
                  <a:lnTo>
                    <a:pt x="704850" y="5752465"/>
                  </a:lnTo>
                  <a:lnTo>
                    <a:pt x="352425" y="5752465"/>
                  </a:lnTo>
                  <a:lnTo>
                    <a:pt x="0" y="5752465"/>
                  </a:lnTo>
                  <a:moveTo>
                    <a:pt x="704850" y="5752465"/>
                  </a:moveTo>
                  <a:cubicBezTo>
                    <a:pt x="704850" y="5947156"/>
                    <a:pt x="547116" y="6104890"/>
                    <a:pt x="352425" y="6104890"/>
                  </a:cubicBezTo>
                  <a:cubicBezTo>
                    <a:pt x="157734" y="6104890"/>
                    <a:pt x="0" y="5947029"/>
                    <a:pt x="0" y="5752465"/>
                  </a:cubicBezTo>
                  <a:cubicBezTo>
                    <a:pt x="0" y="5557901"/>
                    <a:pt x="157734" y="5400040"/>
                    <a:pt x="352425" y="5400040"/>
                  </a:cubicBezTo>
                  <a:cubicBezTo>
                    <a:pt x="547116" y="5400040"/>
                    <a:pt x="704850" y="5557774"/>
                    <a:pt x="704850" y="5752465"/>
                  </a:cubicBezTo>
                  <a:cubicBezTo>
                    <a:pt x="704850" y="8540115"/>
                    <a:pt x="2964688" y="10800080"/>
                    <a:pt x="5752465" y="10800080"/>
                  </a:cubicBezTo>
                  <a:cubicBezTo>
                    <a:pt x="8540242" y="10800080"/>
                    <a:pt x="10799953" y="8540115"/>
                    <a:pt x="10799953" y="5752465"/>
                  </a:cubicBezTo>
                  <a:cubicBezTo>
                    <a:pt x="10799953" y="2964815"/>
                    <a:pt x="8540115" y="704850"/>
                    <a:pt x="5752465" y="704850"/>
                  </a:cubicBezTo>
                  <a:lnTo>
                    <a:pt x="5752465" y="352425"/>
                  </a:lnTo>
                  <a:lnTo>
                    <a:pt x="5752465" y="704850"/>
                  </a:lnTo>
                  <a:cubicBezTo>
                    <a:pt x="2964688" y="704850"/>
                    <a:pt x="704850" y="2964688"/>
                    <a:pt x="704850" y="5752465"/>
                  </a:cubicBezTo>
                  <a:close/>
                </a:path>
              </a:pathLst>
            </a:custGeom>
            <a:solidFill>
              <a:srgbClr val="17688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54753" y="6760395"/>
            <a:ext cx="3041443" cy="455387"/>
            <a:chOff x="0" y="0"/>
            <a:chExt cx="6936266" cy="10385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36239" cy="1038548"/>
            </a:xfrm>
            <a:custGeom>
              <a:avLst/>
              <a:gdLst/>
              <a:ahLst/>
              <a:cxnLst/>
              <a:rect r="r" b="b" t="t" l="l"/>
              <a:pathLst>
                <a:path h="1038548" w="6936239">
                  <a:moveTo>
                    <a:pt x="0" y="0"/>
                  </a:moveTo>
                  <a:lnTo>
                    <a:pt x="6936239" y="0"/>
                  </a:lnTo>
                  <a:lnTo>
                    <a:pt x="6936239" y="1038548"/>
                  </a:lnTo>
                  <a:lnTo>
                    <a:pt x="0" y="10385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145" y="1243624"/>
            <a:ext cx="9221850" cy="1162477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031200" cy="260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8"/>
                </a:lnSpc>
              </a:pPr>
              <a:r>
                <a:rPr lang="en-US" sz="3507">
                  <a:solidFill>
                    <a:srgbClr val="156082"/>
                  </a:solidFill>
                  <a:latin typeface="Noto Sans"/>
                  <a:ea typeface="Noto Sans"/>
                  <a:cs typeface="Noto Sans"/>
                  <a:sym typeface="Noto Sans"/>
                </a:rPr>
                <a:t>Qué esperamos y que no en esta fase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4121" y="3035876"/>
            <a:ext cx="4227489" cy="289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b="true" sz="3157">
                <a:solidFill>
                  <a:srgbClr val="C04F1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No esperamos</a:t>
            </a:r>
          </a:p>
          <a:p>
            <a:pPr algn="l" marL="380902" indent="-190451" lvl="1">
              <a:lnSpc>
                <a:spcPts val="2525"/>
              </a:lnSpc>
              <a:buFont typeface="Arial"/>
              <a:buChar char="•"/>
            </a:pPr>
            <a:r>
              <a:rPr lang="en-US" sz="2104">
                <a:solidFill>
                  <a:srgbClr val="C04F15"/>
                </a:solidFill>
                <a:latin typeface="Noto Sans"/>
                <a:ea typeface="Noto Sans"/>
                <a:cs typeface="Noto Sans"/>
                <a:sym typeface="Noto Sans"/>
              </a:rPr>
              <a:t>Integración</a:t>
            </a:r>
            <a:r>
              <a:rPr lang="en-US" sz="2104">
                <a:solidFill>
                  <a:srgbClr val="0F4761"/>
                </a:solidFill>
                <a:latin typeface="Noto Sans"/>
                <a:ea typeface="Noto Sans"/>
                <a:cs typeface="Noto Sans"/>
                <a:sym typeface="Noto Sans"/>
              </a:rPr>
              <a:t> con CRM u otros sistemas</a:t>
            </a:r>
          </a:p>
          <a:p>
            <a:pPr algn="l" marL="380902" indent="-190451" lvl="1">
              <a:lnSpc>
                <a:spcPts val="2525"/>
              </a:lnSpc>
              <a:buFont typeface="Arial"/>
              <a:buChar char="•"/>
            </a:pPr>
            <a:r>
              <a:rPr lang="en-US" sz="2104">
                <a:solidFill>
                  <a:srgbClr val="C04F15"/>
                </a:solidFill>
                <a:latin typeface="Noto Sans"/>
                <a:ea typeface="Noto Sans"/>
                <a:cs typeface="Noto Sans"/>
                <a:sym typeface="Noto Sans"/>
              </a:rPr>
              <a:t>Implantación</a:t>
            </a:r>
            <a:r>
              <a:rPr lang="en-US" sz="2104">
                <a:solidFill>
                  <a:srgbClr val="0F4761"/>
                </a:solidFill>
                <a:latin typeface="Noto Sans"/>
                <a:ea typeface="Noto Sans"/>
                <a:cs typeface="Noto Sans"/>
                <a:sym typeface="Noto Sans"/>
              </a:rPr>
              <a:t> definitiva</a:t>
            </a:r>
          </a:p>
          <a:p>
            <a:pPr algn="l" marL="380902" indent="-190451" lvl="1">
              <a:lnSpc>
                <a:spcPts val="2525"/>
              </a:lnSpc>
              <a:buFont typeface="Arial"/>
              <a:buChar char="•"/>
            </a:pPr>
            <a:r>
              <a:rPr lang="en-US" sz="2104">
                <a:solidFill>
                  <a:srgbClr val="0F4761"/>
                </a:solidFill>
                <a:latin typeface="Noto Sans"/>
                <a:ea typeface="Noto Sans"/>
                <a:cs typeface="Noto Sans"/>
                <a:sym typeface="Noto Sans"/>
              </a:rPr>
              <a:t>Una solución basada en </a:t>
            </a:r>
            <a:r>
              <a:rPr lang="en-US" sz="2104">
                <a:solidFill>
                  <a:srgbClr val="C04F15"/>
                </a:solidFill>
                <a:latin typeface="Noto Sans"/>
                <a:ea typeface="Noto Sans"/>
                <a:cs typeface="Noto Sans"/>
                <a:sym typeface="Noto Sans"/>
              </a:rPr>
              <a:t>una tecnología concreta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59520" y="3035876"/>
            <a:ext cx="3865709" cy="272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b="true" sz="3157">
                <a:solidFill>
                  <a:srgbClr val="0F9ED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Sí esperamos</a:t>
            </a:r>
          </a:p>
          <a:p>
            <a:pPr algn="l" marL="380902" indent="-190451" lvl="1">
              <a:lnSpc>
                <a:spcPts val="2525"/>
              </a:lnSpc>
              <a:buFont typeface="Arial"/>
              <a:buChar char="•"/>
            </a:pPr>
            <a:r>
              <a:rPr lang="en-US" sz="2104">
                <a:solidFill>
                  <a:srgbClr val="0F9ED5"/>
                </a:solidFill>
                <a:latin typeface="Noto Sans"/>
                <a:ea typeface="Noto Sans"/>
                <a:cs typeface="Noto Sans"/>
                <a:sym typeface="Noto Sans"/>
              </a:rPr>
              <a:t>Lógica</a:t>
            </a:r>
            <a:r>
              <a:rPr lang="en-US" sz="2104">
                <a:solidFill>
                  <a:srgbClr val="0F4761"/>
                </a:solidFill>
                <a:latin typeface="Noto Sans"/>
                <a:ea typeface="Noto Sans"/>
                <a:cs typeface="Noto Sans"/>
                <a:sym typeface="Noto Sans"/>
              </a:rPr>
              <a:t> sólida</a:t>
            </a:r>
          </a:p>
          <a:p>
            <a:pPr algn="l" marL="380902" indent="-190451" lvl="1">
              <a:lnSpc>
                <a:spcPts val="2525"/>
              </a:lnSpc>
              <a:buFont typeface="Arial"/>
              <a:buChar char="•"/>
            </a:pPr>
            <a:r>
              <a:rPr lang="en-US" sz="2104">
                <a:solidFill>
                  <a:srgbClr val="0F4761"/>
                </a:solidFill>
                <a:latin typeface="Noto Sans"/>
                <a:ea typeface="Noto Sans"/>
                <a:cs typeface="Noto Sans"/>
                <a:sym typeface="Noto Sans"/>
              </a:rPr>
              <a:t>Output </a:t>
            </a:r>
            <a:r>
              <a:rPr lang="en-US" sz="2104">
                <a:solidFill>
                  <a:srgbClr val="0F9ED5"/>
                </a:solidFill>
                <a:latin typeface="Noto Sans"/>
                <a:ea typeface="Noto Sans"/>
                <a:cs typeface="Noto Sans"/>
                <a:sym typeface="Noto Sans"/>
              </a:rPr>
              <a:t>accionable</a:t>
            </a:r>
          </a:p>
          <a:p>
            <a:pPr algn="l" marL="380902" indent="-190451" lvl="1">
              <a:lnSpc>
                <a:spcPts val="2525"/>
              </a:lnSpc>
              <a:buFont typeface="Arial"/>
              <a:buChar char="•"/>
            </a:pPr>
            <a:r>
              <a:rPr lang="en-US" sz="2104">
                <a:solidFill>
                  <a:srgbClr val="0F4761"/>
                </a:solidFill>
                <a:latin typeface="Noto Sans"/>
                <a:ea typeface="Noto Sans"/>
                <a:cs typeface="Noto Sans"/>
                <a:sym typeface="Noto Sans"/>
              </a:rPr>
              <a:t>Propuesta coherente con una </a:t>
            </a:r>
            <a:r>
              <a:rPr lang="en-US" sz="2104">
                <a:solidFill>
                  <a:srgbClr val="0F9ED5"/>
                </a:solidFill>
                <a:latin typeface="Noto Sans"/>
                <a:ea typeface="Noto Sans"/>
                <a:cs typeface="Noto Sans"/>
                <a:sym typeface="Noto Sans"/>
              </a:rPr>
              <a:t>operativa diaria </a:t>
            </a:r>
          </a:p>
          <a:p>
            <a:pPr algn="l" marL="380902" indent="-190451" lvl="1">
              <a:lnSpc>
                <a:spcPts val="2525"/>
              </a:lnSpc>
              <a:buFont typeface="Arial"/>
              <a:buChar char="•"/>
            </a:pPr>
            <a:r>
              <a:rPr lang="en-US" sz="2104">
                <a:solidFill>
                  <a:srgbClr val="0F4761"/>
                </a:solidFill>
                <a:latin typeface="Noto Sans"/>
                <a:ea typeface="Noto Sans"/>
                <a:cs typeface="Noto Sans"/>
                <a:sym typeface="Noto Sans"/>
              </a:rPr>
              <a:t>Razonamiento sobre </a:t>
            </a:r>
            <a:r>
              <a:rPr lang="en-US" sz="2104">
                <a:solidFill>
                  <a:srgbClr val="0F9ED5"/>
                </a:solidFill>
                <a:latin typeface="Noto Sans"/>
                <a:ea typeface="Noto Sans"/>
                <a:cs typeface="Noto Sans"/>
                <a:sym typeface="Noto Sans"/>
              </a:rPr>
              <a:t>limitaciones y riesgos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47313" y="2802768"/>
            <a:ext cx="4616110" cy="3345521"/>
            <a:chOff x="0" y="0"/>
            <a:chExt cx="10527424" cy="76297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27411" cy="7629651"/>
            </a:xfrm>
            <a:custGeom>
              <a:avLst/>
              <a:gdLst/>
              <a:ahLst/>
              <a:cxnLst/>
              <a:rect r="r" b="b" t="t" l="l"/>
              <a:pathLst>
                <a:path h="7629651" w="10527411">
                  <a:moveTo>
                    <a:pt x="0" y="826770"/>
                  </a:moveTo>
                  <a:cubicBezTo>
                    <a:pt x="0" y="370205"/>
                    <a:pt x="370713" y="0"/>
                    <a:pt x="827913" y="0"/>
                  </a:cubicBezTo>
                  <a:lnTo>
                    <a:pt x="9699498" y="0"/>
                  </a:lnTo>
                  <a:lnTo>
                    <a:pt x="9699498" y="19050"/>
                  </a:lnTo>
                  <a:lnTo>
                    <a:pt x="9699498" y="0"/>
                  </a:lnTo>
                  <a:cubicBezTo>
                    <a:pt x="10156698" y="0"/>
                    <a:pt x="10527411" y="370205"/>
                    <a:pt x="10527411" y="826770"/>
                  </a:cubicBezTo>
                  <a:lnTo>
                    <a:pt x="10508361" y="826770"/>
                  </a:lnTo>
                  <a:lnTo>
                    <a:pt x="10527411" y="826770"/>
                  </a:lnTo>
                  <a:lnTo>
                    <a:pt x="10527411" y="6802882"/>
                  </a:lnTo>
                  <a:lnTo>
                    <a:pt x="10508361" y="6802882"/>
                  </a:lnTo>
                  <a:lnTo>
                    <a:pt x="10527411" y="6802882"/>
                  </a:lnTo>
                  <a:cubicBezTo>
                    <a:pt x="10527411" y="7259574"/>
                    <a:pt x="10156698" y="7629651"/>
                    <a:pt x="9699498" y="7629651"/>
                  </a:cubicBezTo>
                  <a:lnTo>
                    <a:pt x="9699498" y="7610601"/>
                  </a:lnTo>
                  <a:lnTo>
                    <a:pt x="9699498" y="7629651"/>
                  </a:lnTo>
                  <a:lnTo>
                    <a:pt x="827913" y="7629651"/>
                  </a:lnTo>
                  <a:lnTo>
                    <a:pt x="827913" y="7610601"/>
                  </a:lnTo>
                  <a:lnTo>
                    <a:pt x="827913" y="7629651"/>
                  </a:lnTo>
                  <a:cubicBezTo>
                    <a:pt x="370713" y="7629651"/>
                    <a:pt x="0" y="7259447"/>
                    <a:pt x="0" y="6802882"/>
                  </a:cubicBezTo>
                  <a:lnTo>
                    <a:pt x="0" y="826770"/>
                  </a:lnTo>
                  <a:lnTo>
                    <a:pt x="19050" y="826770"/>
                  </a:lnTo>
                  <a:lnTo>
                    <a:pt x="0" y="826770"/>
                  </a:lnTo>
                  <a:moveTo>
                    <a:pt x="38100" y="826770"/>
                  </a:moveTo>
                  <a:lnTo>
                    <a:pt x="38100" y="6802882"/>
                  </a:lnTo>
                  <a:lnTo>
                    <a:pt x="19050" y="6802882"/>
                  </a:lnTo>
                  <a:lnTo>
                    <a:pt x="38100" y="6802882"/>
                  </a:lnTo>
                  <a:cubicBezTo>
                    <a:pt x="38100" y="7238492"/>
                    <a:pt x="391668" y="7591551"/>
                    <a:pt x="827913" y="7591551"/>
                  </a:cubicBezTo>
                  <a:lnTo>
                    <a:pt x="9699498" y="7591551"/>
                  </a:lnTo>
                  <a:cubicBezTo>
                    <a:pt x="10135743" y="7591551"/>
                    <a:pt x="10489311" y="7238364"/>
                    <a:pt x="10489311" y="6802882"/>
                  </a:cubicBezTo>
                  <a:lnTo>
                    <a:pt x="10489311" y="826770"/>
                  </a:lnTo>
                  <a:cubicBezTo>
                    <a:pt x="10489311" y="391160"/>
                    <a:pt x="10135743" y="38100"/>
                    <a:pt x="9699498" y="38100"/>
                  </a:cubicBezTo>
                  <a:lnTo>
                    <a:pt x="827913" y="38100"/>
                  </a:lnTo>
                  <a:lnTo>
                    <a:pt x="827913" y="19050"/>
                  </a:lnTo>
                  <a:lnTo>
                    <a:pt x="827913" y="38100"/>
                  </a:lnTo>
                  <a:cubicBezTo>
                    <a:pt x="391668" y="38100"/>
                    <a:pt x="38100" y="391287"/>
                    <a:pt x="38100" y="826770"/>
                  </a:cubicBezTo>
                  <a:close/>
                </a:path>
              </a:pathLst>
            </a:custGeom>
            <a:solidFill>
              <a:srgbClr val="C04F1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92363" y="2802762"/>
            <a:ext cx="4616110" cy="3345521"/>
            <a:chOff x="0" y="0"/>
            <a:chExt cx="10527424" cy="76297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27411" cy="7629651"/>
            </a:xfrm>
            <a:custGeom>
              <a:avLst/>
              <a:gdLst/>
              <a:ahLst/>
              <a:cxnLst/>
              <a:rect r="r" b="b" t="t" l="l"/>
              <a:pathLst>
                <a:path h="7629651" w="10527411">
                  <a:moveTo>
                    <a:pt x="0" y="826770"/>
                  </a:moveTo>
                  <a:cubicBezTo>
                    <a:pt x="0" y="370205"/>
                    <a:pt x="370713" y="0"/>
                    <a:pt x="827913" y="0"/>
                  </a:cubicBezTo>
                  <a:lnTo>
                    <a:pt x="9699498" y="0"/>
                  </a:lnTo>
                  <a:lnTo>
                    <a:pt x="9699498" y="19050"/>
                  </a:lnTo>
                  <a:lnTo>
                    <a:pt x="9699498" y="0"/>
                  </a:lnTo>
                  <a:cubicBezTo>
                    <a:pt x="10156698" y="0"/>
                    <a:pt x="10527411" y="370205"/>
                    <a:pt x="10527411" y="826770"/>
                  </a:cubicBezTo>
                  <a:lnTo>
                    <a:pt x="10508361" y="826770"/>
                  </a:lnTo>
                  <a:lnTo>
                    <a:pt x="10527411" y="826770"/>
                  </a:lnTo>
                  <a:lnTo>
                    <a:pt x="10527411" y="6802882"/>
                  </a:lnTo>
                  <a:lnTo>
                    <a:pt x="10508361" y="6802882"/>
                  </a:lnTo>
                  <a:lnTo>
                    <a:pt x="10527411" y="6802882"/>
                  </a:lnTo>
                  <a:cubicBezTo>
                    <a:pt x="10527411" y="7259574"/>
                    <a:pt x="10156698" y="7629651"/>
                    <a:pt x="9699498" y="7629651"/>
                  </a:cubicBezTo>
                  <a:lnTo>
                    <a:pt x="9699498" y="7610601"/>
                  </a:lnTo>
                  <a:lnTo>
                    <a:pt x="9699498" y="7629651"/>
                  </a:lnTo>
                  <a:lnTo>
                    <a:pt x="827913" y="7629651"/>
                  </a:lnTo>
                  <a:lnTo>
                    <a:pt x="827913" y="7610601"/>
                  </a:lnTo>
                  <a:lnTo>
                    <a:pt x="827913" y="7629651"/>
                  </a:lnTo>
                  <a:cubicBezTo>
                    <a:pt x="370713" y="7629651"/>
                    <a:pt x="0" y="7259447"/>
                    <a:pt x="0" y="6802882"/>
                  </a:cubicBezTo>
                  <a:lnTo>
                    <a:pt x="0" y="826770"/>
                  </a:lnTo>
                  <a:lnTo>
                    <a:pt x="19050" y="826770"/>
                  </a:lnTo>
                  <a:lnTo>
                    <a:pt x="0" y="826770"/>
                  </a:lnTo>
                  <a:moveTo>
                    <a:pt x="38100" y="826770"/>
                  </a:moveTo>
                  <a:lnTo>
                    <a:pt x="38100" y="6802882"/>
                  </a:lnTo>
                  <a:lnTo>
                    <a:pt x="19050" y="6802882"/>
                  </a:lnTo>
                  <a:lnTo>
                    <a:pt x="38100" y="6802882"/>
                  </a:lnTo>
                  <a:cubicBezTo>
                    <a:pt x="38100" y="7238492"/>
                    <a:pt x="391668" y="7591551"/>
                    <a:pt x="827913" y="7591551"/>
                  </a:cubicBezTo>
                  <a:lnTo>
                    <a:pt x="9699498" y="7591551"/>
                  </a:lnTo>
                  <a:cubicBezTo>
                    <a:pt x="10135743" y="7591551"/>
                    <a:pt x="10489311" y="7238364"/>
                    <a:pt x="10489311" y="6802882"/>
                  </a:cubicBezTo>
                  <a:lnTo>
                    <a:pt x="10489311" y="826770"/>
                  </a:lnTo>
                  <a:cubicBezTo>
                    <a:pt x="10489311" y="391160"/>
                    <a:pt x="10135743" y="38100"/>
                    <a:pt x="9699498" y="38100"/>
                  </a:cubicBezTo>
                  <a:lnTo>
                    <a:pt x="827913" y="38100"/>
                  </a:lnTo>
                  <a:lnTo>
                    <a:pt x="827913" y="19050"/>
                  </a:lnTo>
                  <a:lnTo>
                    <a:pt x="827913" y="38100"/>
                  </a:lnTo>
                  <a:cubicBezTo>
                    <a:pt x="391668" y="38100"/>
                    <a:pt x="38100" y="391287"/>
                    <a:pt x="38100" y="826770"/>
                  </a:cubicBezTo>
                  <a:close/>
                </a:path>
              </a:pathLst>
            </a:custGeom>
            <a:solidFill>
              <a:srgbClr val="0F9ED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81076" y="833034"/>
            <a:ext cx="1844053" cy="748529"/>
            <a:chOff x="0" y="0"/>
            <a:chExt cx="4205516" cy="1707083"/>
          </a:xfrm>
        </p:grpSpPr>
        <p:sp>
          <p:nvSpPr>
            <p:cNvPr name="Freeform 12" id="12" descr="AF-INIBSA-Logotipo-RGB.png"/>
            <p:cNvSpPr/>
            <p:nvPr/>
          </p:nvSpPr>
          <p:spPr>
            <a:xfrm flipH="false" flipV="false" rot="0">
              <a:off x="0" y="0"/>
              <a:ext cx="4205478" cy="1707134"/>
            </a:xfrm>
            <a:custGeom>
              <a:avLst/>
              <a:gdLst/>
              <a:ahLst/>
              <a:cxnLst/>
              <a:rect r="r" b="b" t="t" l="l"/>
              <a:pathLst>
                <a:path h="1707134" w="4205478">
                  <a:moveTo>
                    <a:pt x="0" y="0"/>
                  </a:moveTo>
                  <a:lnTo>
                    <a:pt x="4205478" y="0"/>
                  </a:lnTo>
                  <a:lnTo>
                    <a:pt x="4205478" y="1707134"/>
                  </a:lnTo>
                  <a:lnTo>
                    <a:pt x="0" y="1707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49" r="-22452" b="-5487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67515" y="2660882"/>
            <a:ext cx="5575115" cy="2238242"/>
            <a:chOff x="0" y="0"/>
            <a:chExt cx="12714516" cy="5104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14514" cy="5104494"/>
            </a:xfrm>
            <a:custGeom>
              <a:avLst/>
              <a:gdLst/>
              <a:ahLst/>
              <a:cxnLst/>
              <a:rect r="r" b="b" t="t" l="l"/>
              <a:pathLst>
                <a:path h="5104494" w="12714514">
                  <a:moveTo>
                    <a:pt x="0" y="0"/>
                  </a:moveTo>
                  <a:lnTo>
                    <a:pt x="12714514" y="0"/>
                  </a:lnTo>
                  <a:lnTo>
                    <a:pt x="12714514" y="5104494"/>
                  </a:lnTo>
                  <a:lnTo>
                    <a:pt x="0" y="51044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0" t="0" r="-151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12714516" cy="5028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77"/>
                </a:lnSpc>
              </a:pPr>
              <a:r>
                <a:rPr lang="en-US" sz="7015">
                  <a:solidFill>
                    <a:srgbClr val="156082"/>
                  </a:solidFill>
                  <a:latin typeface="Aptos"/>
                  <a:ea typeface="Aptos"/>
                  <a:cs typeface="Aptos"/>
                  <a:sym typeface="Aptos"/>
                </a:rPr>
                <a:t>¿Preguntas?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81076" y="833034"/>
            <a:ext cx="1844053" cy="748529"/>
            <a:chOff x="0" y="0"/>
            <a:chExt cx="4205516" cy="1707083"/>
          </a:xfrm>
        </p:grpSpPr>
        <p:sp>
          <p:nvSpPr>
            <p:cNvPr name="Freeform 6" id="6" descr="AF-INIBSA-Logotipo-RGB.png"/>
            <p:cNvSpPr/>
            <p:nvPr/>
          </p:nvSpPr>
          <p:spPr>
            <a:xfrm flipH="false" flipV="false" rot="0">
              <a:off x="0" y="0"/>
              <a:ext cx="4205478" cy="1707134"/>
            </a:xfrm>
            <a:custGeom>
              <a:avLst/>
              <a:gdLst/>
              <a:ahLst/>
              <a:cxnLst/>
              <a:rect r="r" b="b" t="t" l="l"/>
              <a:pathLst>
                <a:path h="1707134" w="4205478">
                  <a:moveTo>
                    <a:pt x="0" y="0"/>
                  </a:moveTo>
                  <a:lnTo>
                    <a:pt x="4205478" y="0"/>
                  </a:lnTo>
                  <a:lnTo>
                    <a:pt x="4205478" y="1707134"/>
                  </a:lnTo>
                  <a:lnTo>
                    <a:pt x="0" y="1707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749" r="-22452" b="-5487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DAHJKfsa57I</dc:identifier>
  <dcterms:modified xsi:type="dcterms:W3CDTF">2011-08-01T06:04:30Z</dcterms:modified>
  <cp:revision>1</cp:revision>
  <dc:title>Copia de Copia de Diseño sin título</dc:title>
</cp:coreProperties>
</file>